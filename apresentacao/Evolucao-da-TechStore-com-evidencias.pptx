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3d888c67d44ef" /><Relationship Type="http://schemas.openxmlformats.org/officeDocument/2006/relationships/extended-properties" Target="/docProps/app.xml" Id="Ra789c0378da94d6f" /><Relationship Type="http://schemas.openxmlformats.org/officeDocument/2006/relationships/officeDocument" Target="/ppt/presentation.xml" Id="R7a4fc343cb75421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4b80efd056a460b"/>
  </p:sldMasterIdLst>
  <p:notesMasterIdLst>
    <p:notesMasterId xmlns:r="http://schemas.openxmlformats.org/officeDocument/2006/relationships" r:id="Rcd17d6a80f6f4996"/>
  </p:notesMasterIdLst>
  <p:sldIdLst>
    <p:sldId xmlns:r="http://schemas.openxmlformats.org/officeDocument/2006/relationships" id="256" r:id="R55a71a1a67ed4404"/>
    <p:sldId xmlns:r="http://schemas.openxmlformats.org/officeDocument/2006/relationships" id="257" r:id="Rc6ca5abaedf146cb"/>
    <p:sldId xmlns:r="http://schemas.openxmlformats.org/officeDocument/2006/relationships" id="258" r:id="R8de44ad5748f4423"/>
    <p:sldId xmlns:r="http://schemas.openxmlformats.org/officeDocument/2006/relationships" id="259" r:id="Rcd98d1f0ba974ee4"/>
    <p:sldId xmlns:r="http://schemas.openxmlformats.org/officeDocument/2006/relationships" id="260" r:id="R7e2a8dc1bed245ef"/>
    <p:sldId xmlns:r="http://schemas.openxmlformats.org/officeDocument/2006/relationships" id="261" r:id="R11aa73efa5e0420e"/>
    <p:sldId xmlns:r="http://schemas.openxmlformats.org/officeDocument/2006/relationships" id="262" r:id="R91f1e9e3c1c14c44"/>
    <p:sldId xmlns:r="http://schemas.openxmlformats.org/officeDocument/2006/relationships" id="263" r:id="R18d9faaef30145e7"/>
    <p:sldId xmlns:r="http://schemas.openxmlformats.org/officeDocument/2006/relationships" id="264" r:id="R1d588ac2d12a46a9"/>
    <p:sldId xmlns:r="http://schemas.openxmlformats.org/officeDocument/2006/relationships" id="265" r:id="Rf86a596220c24b64"/>
    <p:sldId xmlns:r="http://schemas.openxmlformats.org/officeDocument/2006/relationships" id="266" r:id="Rcea9a67b8a91470b"/>
    <p:sldId xmlns:r="http://schemas.openxmlformats.org/officeDocument/2006/relationships" id="267" r:id="R99eb9402ed4844d7"/>
    <p:sldId xmlns:r="http://schemas.openxmlformats.org/officeDocument/2006/relationships" id="268" r:id="Re31667efd7f642db"/>
    <p:sldId xmlns:r="http://schemas.openxmlformats.org/officeDocument/2006/relationships" id="269" r:id="Rc5883fff0355463f"/>
  </p:sldIdLst>
  <p:sldSz cx="18288000" cy="10287000"/>
  <p:notesSz cx="6858000" cy="9144000"/>
  <p:embeddedFontLst>
    <p:embeddedFont>
      <p:font typeface="DM Sans Bold"/>
      <p:regular xmlns:r="http://schemas.openxmlformats.org/officeDocument/2006/relationships" r:id="R5b1fbdad004941bb"/>
    </p:embeddedFont>
    <p:embeddedFont>
      <p:font typeface="DM Sans"/>
      <p:regular xmlns:r="http://schemas.openxmlformats.org/officeDocument/2006/relationships" r:id="Reb7f5960874c43f6"/>
    </p:embeddedFont>
    <p:embeddedFont>
      <p:font typeface="TT Rounds Condensed Bold"/>
      <p:regular xmlns:r="http://schemas.openxmlformats.org/officeDocument/2006/relationships" r:id="Rd2e7df5674964eb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3950b20fc8492c" /><Relationship Type="http://schemas.openxmlformats.org/officeDocument/2006/relationships/slideMaster" Target="/ppt/slideMasters/slideMaster1.xml" Id="Rb4b80efd056a460b" /><Relationship Type="http://schemas.openxmlformats.org/officeDocument/2006/relationships/notesMaster" Target="/ppt/notesMasters/notesMaster1.xml" Id="Rcd17d6a80f6f4996" /><Relationship Type="http://schemas.openxmlformats.org/officeDocument/2006/relationships/presProps" Target="/ppt/presProps.xml" Id="R77a4f6e44df14888" /><Relationship Type="http://schemas.openxmlformats.org/officeDocument/2006/relationships/viewProps" Target="/ppt/viewProps.xml" Id="R7e7b5f54de024479" /><Relationship Type="http://schemas.openxmlformats.org/officeDocument/2006/relationships/tableStyles" Target="/ppt/tableStyles.xml" Id="R2ccf5cac88be45b1" /><Relationship Type="http://schemas.openxmlformats.org/officeDocument/2006/relationships/font" Target="/ppt/fonts/font.dat" Id="R5b1fbdad004941bb" /><Relationship Type="http://schemas.openxmlformats.org/officeDocument/2006/relationships/font" Target="/ppt/fonts/font2.dat" Id="Reb7f5960874c43f6" /><Relationship Type="http://schemas.openxmlformats.org/officeDocument/2006/relationships/font" Target="/ppt/fonts/font3.dat" Id="Rd2e7df5674964eb2" /><Relationship Type="http://schemas.openxmlformats.org/officeDocument/2006/relationships/slide" Target="/ppt/slides/slide1.xml" Id="R55a71a1a67ed4404" /><Relationship Type="http://schemas.openxmlformats.org/officeDocument/2006/relationships/slide" Target="/ppt/slides/slide2.xml" Id="Rc6ca5abaedf146cb" /><Relationship Type="http://schemas.openxmlformats.org/officeDocument/2006/relationships/slide" Target="/ppt/slides/slide3.xml" Id="R8de44ad5748f4423" /><Relationship Type="http://schemas.openxmlformats.org/officeDocument/2006/relationships/slide" Target="/ppt/slides/slide4.xml" Id="Rcd98d1f0ba974ee4" /><Relationship Type="http://schemas.openxmlformats.org/officeDocument/2006/relationships/slide" Target="/ppt/slides/slide5.xml" Id="R7e2a8dc1bed245ef" /><Relationship Type="http://schemas.openxmlformats.org/officeDocument/2006/relationships/slide" Target="/ppt/slides/slide6.xml" Id="R11aa73efa5e0420e" /><Relationship Type="http://schemas.openxmlformats.org/officeDocument/2006/relationships/slide" Target="/ppt/slides/slide7.xml" Id="R91f1e9e3c1c14c44" /><Relationship Type="http://schemas.openxmlformats.org/officeDocument/2006/relationships/slide" Target="/ppt/slides/slide8.xml" Id="R18d9faaef30145e7" /><Relationship Type="http://schemas.openxmlformats.org/officeDocument/2006/relationships/slide" Target="/ppt/slides/slide9.xml" Id="R1d588ac2d12a46a9" /><Relationship Type="http://schemas.openxmlformats.org/officeDocument/2006/relationships/slide" Target="/ppt/slides/slide10.xml" Id="Rf86a596220c24b64" /><Relationship Type="http://schemas.openxmlformats.org/officeDocument/2006/relationships/slide" Target="/ppt/slides/slide11.xml" Id="Rcea9a67b8a91470b" /><Relationship Type="http://schemas.openxmlformats.org/officeDocument/2006/relationships/slide" Target="/ppt/slides/slide12.xml" Id="R99eb9402ed4844d7" /><Relationship Type="http://schemas.openxmlformats.org/officeDocument/2006/relationships/slide" Target="/ppt/slides/slide13.xml" Id="Re31667efd7f642db" /><Relationship Type="http://schemas.openxmlformats.org/officeDocument/2006/relationships/slide" Target="/ppt/slides/slide14.xml" Id="Rc5883fff0355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8918877c0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482167c6f948b4" /><Relationship Type="http://schemas.openxmlformats.org/officeDocument/2006/relationships/notesMaster" Target="/ppt/notesMasters/notesMaster1.xml" Id="R8b558f3746184e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d3e1e7efe4927" /><Relationship Type="http://schemas.openxmlformats.org/officeDocument/2006/relationships/notesMaster" Target="/ppt/notesMasters/notesMaster1.xml" Id="R29f3adf45e5141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47f4b2c9d4825" /><Relationship Type="http://schemas.openxmlformats.org/officeDocument/2006/relationships/notesMaster" Target="/ppt/notesMasters/notesMaster1.xml" Id="Rd0b2d2b51fe2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ac26eca8344b3" /><Relationship Type="http://schemas.openxmlformats.org/officeDocument/2006/relationships/notesMaster" Target="/ppt/notesMasters/notesMaster1.xml" Id="Rf5e3540debab41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071af7baf04bf0" /><Relationship Type="http://schemas.openxmlformats.org/officeDocument/2006/relationships/notesMaster" Target="/ppt/notesMasters/notesMaster1.xml" Id="R95415498c96245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0f013f77874a57" /><Relationship Type="http://schemas.openxmlformats.org/officeDocument/2006/relationships/notesMaster" Target="/ppt/notesMasters/notesMaster1.xml" Id="Rc2cba3775afb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fbf7d1884440a" /><Relationship Type="http://schemas.openxmlformats.org/officeDocument/2006/relationships/notesMaster" Target="/ppt/notesMasters/notesMaster1.xml" Id="Ra85a62bbf03c4b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f3e2be28664001" /><Relationship Type="http://schemas.openxmlformats.org/officeDocument/2006/relationships/notesMaster" Target="/ppt/notesMasters/notesMaster1.xml" Id="Rc831ef9e5ae04b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6908647da343cb" /><Relationship Type="http://schemas.openxmlformats.org/officeDocument/2006/relationships/notesMaster" Target="/ppt/notesMasters/notesMaster1.xml" Id="R621042762b4646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3a7a9070484adf" /><Relationship Type="http://schemas.openxmlformats.org/officeDocument/2006/relationships/notesMaster" Target="/ppt/notesMasters/notesMaster1.xml" Id="R69e7e209b0dc47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c07364c7a34f13" /><Relationship Type="http://schemas.openxmlformats.org/officeDocument/2006/relationships/notesMaster" Target="/ppt/notesMasters/notesMaster1.xml" Id="R02f839bb820e4a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a1be747a464baf" /><Relationship Type="http://schemas.openxmlformats.org/officeDocument/2006/relationships/notesMaster" Target="/ppt/notesMasters/notesMaster1.xml" Id="R9443a2696c5641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36fdd781f74b88" /><Relationship Type="http://schemas.openxmlformats.org/officeDocument/2006/relationships/notesMaster" Target="/ppt/notesMasters/notesMaster1.xml" Id="Rbf2d3559432045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6d04bfecc74cfe" /><Relationship Type="http://schemas.openxmlformats.org/officeDocument/2006/relationships/notesMaster" Target="/ppt/notesMasters/notesMaster1.xml" Id="R6ae91cc22017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Introduza esta seção explicando que as imagens são as provas de conclusão das issues 19, 20, 21 e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o script interrompe o auth-service antes do teste de produtos. O produtos-service valida o JWT com o segredo compartilhado e não consulta o auth-service a cada requisição.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somente o Nginx expõe a porta 8080. Todas as rotas foram exercitadas pelo gateway, sem acesso direto às portas internas dos serviços.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coleção automatiza a sequência e mantém as variáveis de token e produto. O aviso de login da CLI não altera o resultado local dos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Ansible coordena a preparação e chama o Terraform. As tarefas de instalação aparecem como skipped porque o Terraform já estava instalado no WSL.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7682608ae49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ef2ff782143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8882dc8e046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347fc917545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97a11771b4e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b5503590b4f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4c5b94ff848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9a21f32d542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4af931abe49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4a7a33556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f1468dcd493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BAD48E-1035-491F-81C4-D7CE0522472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A7423AF-FD3E-4979-A504-D34CBA5AB0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787336-FC10-4B38-955E-0D0C311E33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BD68B8-EFB5-42B7-9885-F167A1C5DA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C5B814-CC96-4F30-8CDB-E4ABBA46F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734C78-2CF0-44E8-BC31-3A617413F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EDBC07-1CB2-4B7A-A79C-4553A63A64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0106DE-1015-4136-BCFE-881E66CE37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67E9D3-BD23-458C-B774-811CF9724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DAC00A-972D-46E7-8F4C-3035C596A0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E02343-C43E-478F-876A-D0C77AEBF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2BAABC-4F3E-4B10-B2CD-F605CEC58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11D7D-E2BA-4E01-88CD-23A7710CD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7B34F3-9845-410D-B08D-700012277A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E6731B-8D79-4791-8BD9-97160A48AE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03E397-FC0A-40AA-AE6B-CC786ACF6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9E153F-BE1A-45CB-B742-D8DC4A5169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C6B380-D1A0-4400-BC98-FF77FDC324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B88992-681D-4CAD-9A11-F20C55DC60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4DB0D9-B88C-4739-A722-DFC7101F18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8F17DC0-FEFE-4666-BE2C-6D0BEE4E93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072E31-4B43-4000-BD92-49B1D61AB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5351AA-9742-46B0-AE11-32AED27250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8501135-C64D-4D46-BFFB-A2D0FFB9E4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50481B9-9A94-4DF8-A05F-FB42E0BCDCE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CF84B93-51EA-4874-AB7C-7A7801E044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0C74D5A-2C59-495B-8DD0-36A8971C62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9A42F72-98FC-4145-B7F3-E1E7B658FC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EF0E6E5-E381-4DA2-BA0E-46A549404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4BC70C-862F-4D2A-93C7-CB01BF6F8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21594F7-2F37-4F8C-BE89-C667A27F59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B806EBC-2EEF-412F-9700-F7653BE829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237C12-845E-4D20-B4DD-152E4D420A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B3A40DD-63AA-4770-90CB-30D32F6D0E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462F29B-4B66-4035-AAD2-A460A68DBD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DAE33D8-CD3F-4960-824E-E7E2B0BD4B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41537F-1E15-4425-A644-9CE02A4EF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DB8B40-51BC-4C99-9E94-D56CC368E7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073C360-54F3-41BA-901B-F0148051FD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F9AA1E-B8A4-4E19-ADEE-96E3B801ED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3A8EF18-E735-488F-9634-B25606B2C4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5564A2C-316E-42CF-9B8E-D97941BEA7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530EFC-B0D5-4577-952C-694B91B0B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4059E5C-3697-4DB3-990B-AB8BBE72058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0B779DD-A5B4-423B-8CAD-666AEF5F36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F9495E-AEE1-4509-BBD4-4712CAD2B5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D33705-BE80-468B-9705-EB8C7FDCDA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853F86A-27C2-4511-A6C7-73DCD39874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7B236D-5EFD-400D-803B-8C5F594280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54D7C4-44BB-464B-B3C6-9C85BBA5E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9D8F5B-87A3-4737-82C1-80B3A16465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728783-0926-4EDA-8F81-64AA0F648B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15EA6C-1999-4BFC-9B8E-726D4ED728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2036AFF-2389-4D71-97B7-2292BF0188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7C2043-3844-424A-B614-5589D2DEA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996DC9-2526-4F98-97E5-5A35B0DB5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8BAFEE-8F68-41DF-B177-CA4304BC68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D20B80-7305-47CE-9BEC-86885AD0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a1958474e248e3" /><Relationship Type="http://schemas.openxmlformats.org/officeDocument/2006/relationships/slideLayout" Target="/ppt/slideLayouts/slideLayout1.xml" Id="Re3c96e3d24c44eff" /><Relationship Type="http://schemas.openxmlformats.org/officeDocument/2006/relationships/slideLayout" Target="/ppt/slideLayouts/slideLayout2.xml" Id="Refe4be67d6af4db7" /><Relationship Type="http://schemas.openxmlformats.org/officeDocument/2006/relationships/slideLayout" Target="/ppt/slideLayouts/slideLayout3.xml" Id="R66c90dfaf1f54b53" /><Relationship Type="http://schemas.openxmlformats.org/officeDocument/2006/relationships/slideLayout" Target="/ppt/slideLayouts/slideLayout4.xml" Id="Recc3af5e532a4182" /><Relationship Type="http://schemas.openxmlformats.org/officeDocument/2006/relationships/slideLayout" Target="/ppt/slideLayouts/slideLayout5.xml" Id="Ref4f8f9d7e244df9" /><Relationship Type="http://schemas.openxmlformats.org/officeDocument/2006/relationships/slideLayout" Target="/ppt/slideLayouts/slideLayout6.xml" Id="R3fb584df4cc4438c" /><Relationship Type="http://schemas.openxmlformats.org/officeDocument/2006/relationships/slideLayout" Target="/ppt/slideLayouts/slideLayout7.xml" Id="R36ce75b06f4a46ef" /><Relationship Type="http://schemas.openxmlformats.org/officeDocument/2006/relationships/slideLayout" Target="/ppt/slideLayouts/slideLayout8.xml" Id="R998f73d78ebd4497" /><Relationship Type="http://schemas.openxmlformats.org/officeDocument/2006/relationships/slideLayout" Target="/ppt/slideLayouts/slideLayout9.xml" Id="R3397e4ccdbfb4ce5" /><Relationship Type="http://schemas.openxmlformats.org/officeDocument/2006/relationships/slideLayout" Target="/ppt/slideLayouts/slideLayout10.xml" Id="R93b52d7f8d2940fd" /><Relationship Type="http://schemas.openxmlformats.org/officeDocument/2006/relationships/slideLayout" Target="/ppt/slideLayouts/slideLayout11.xml" Id="Rfb90892013974d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F4B4400-BD37-4B9D-8FE1-CB06C604D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042145-410C-4975-B8BE-091A950208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945E6A-C169-4551-9AE8-117CAA01457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59A9E0-AEF4-4978-8FBC-E7D2386EDD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AE7FDD-2640-4C49-A8D8-50805410B3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96e3d24c44eff"/>
    <p:sldLayoutId xmlns:r="http://schemas.openxmlformats.org/officeDocument/2006/relationships" id="2147483650" r:id="Refe4be67d6af4db7"/>
    <p:sldLayoutId xmlns:r="http://schemas.openxmlformats.org/officeDocument/2006/relationships" id="2147483651" r:id="R66c90dfaf1f54b53"/>
    <p:sldLayoutId xmlns:r="http://schemas.openxmlformats.org/officeDocument/2006/relationships" id="2147483652" r:id="Recc3af5e532a4182"/>
    <p:sldLayoutId xmlns:r="http://schemas.openxmlformats.org/officeDocument/2006/relationships" id="2147483653" r:id="Ref4f8f9d7e244df9"/>
    <p:sldLayoutId xmlns:r="http://schemas.openxmlformats.org/officeDocument/2006/relationships" id="2147483654" r:id="R3fb584df4cc4438c"/>
    <p:sldLayoutId xmlns:r="http://schemas.openxmlformats.org/officeDocument/2006/relationships" id="2147483655" r:id="R36ce75b06f4a46ef"/>
    <p:sldLayoutId xmlns:r="http://schemas.openxmlformats.org/officeDocument/2006/relationships" id="2147483656" r:id="R998f73d78ebd4497"/>
    <p:sldLayoutId xmlns:r="http://schemas.openxmlformats.org/officeDocument/2006/relationships" id="2147483657" r:id="R3397e4ccdbfb4ce5"/>
    <p:sldLayoutId xmlns:r="http://schemas.openxmlformats.org/officeDocument/2006/relationships" id="2147483658" r:id="R93b52d7f8d2940fd"/>
    <p:sldLayoutId xmlns:r="http://schemas.openxmlformats.org/officeDocument/2006/relationships" id="2147483659" r:id="Rfb90892013974d5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f163e21bd24761" /><Relationship Type="http://schemas.openxmlformats.org/officeDocument/2006/relationships/image" Target="/ppt/media/image.png" Id="Rf12d682a5cb6413f" /><Relationship Type="http://schemas.openxmlformats.org/officeDocument/2006/relationships/image" Target="/ppt/media/image2.png" Id="Ra6631f2111de45bc" /><Relationship Type="http://schemas.openxmlformats.org/officeDocument/2006/relationships/image" Target="/ppt/media/image3.png" Id="Rcf5001ca31ef4735" /><Relationship Type="http://schemas.openxmlformats.org/officeDocument/2006/relationships/notesSlide" Target="/ppt/notesSlides/notesSlide1.xml" Id="Rc3b95dca64434f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b2884185e04087" /><Relationship Type="http://schemas.openxmlformats.org/officeDocument/2006/relationships/image" Target="/ppt/media/image4.png" Id="R35acd2b36ff747f4" /><Relationship Type="http://schemas.openxmlformats.org/officeDocument/2006/relationships/image" Target="/ppt/media/image5.png" Id="R23c7cfc1401a484e" /><Relationship Type="http://schemas.openxmlformats.org/officeDocument/2006/relationships/image" Target="/ppt/media/image6.png" Id="Re621a7e562b94236" /><Relationship Type="http://schemas.openxmlformats.org/officeDocument/2006/relationships/image" Target="/ppt/media/image7.png" Id="R3ae1a88833f04df9" /><Relationship Type="http://schemas.openxmlformats.org/officeDocument/2006/relationships/image" Target="/ppt/media/image8.png" Id="R0892f33910314d05" /><Relationship Type="http://schemas.openxmlformats.org/officeDocument/2006/relationships/image" Target="/ppt/media/image9.png" Id="R8764cc0bf943485a" /><Relationship Type="http://schemas.openxmlformats.org/officeDocument/2006/relationships/image" Target="/ppt/media/image10.png" Id="R006838989e284b14" /><Relationship Type="http://schemas.openxmlformats.org/officeDocument/2006/relationships/image" Target="/ppt/media/image11.png" Id="R1e241ba60409434b" /><Relationship Type="http://schemas.openxmlformats.org/officeDocument/2006/relationships/notesSlide" Target="/ppt/notesSlides/notesSlide2.xml" Id="R86dbaf0f56cc4c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94100178814cd7" /><Relationship Type="http://schemas.openxmlformats.org/officeDocument/2006/relationships/image" Target="/ppt/media/image12.png" Id="R2bcf76d14f344e55" /><Relationship Type="http://schemas.openxmlformats.org/officeDocument/2006/relationships/image" Target="/ppt/media/image13.png" Id="R0a2497cf52e04c16" /><Relationship Type="http://schemas.openxmlformats.org/officeDocument/2006/relationships/image" Target="/ppt/media/image14.png" Id="Rd5ec240046164da2" /><Relationship Type="http://schemas.openxmlformats.org/officeDocument/2006/relationships/image" Target="/ppt/media/image15.png" Id="Refc01344382f498c" /><Relationship Type="http://schemas.openxmlformats.org/officeDocument/2006/relationships/image" Target="/ppt/media/image16.png" Id="R3455e84d0ddb4691" /><Relationship Type="http://schemas.openxmlformats.org/officeDocument/2006/relationships/image" Target="/ppt/media/image17.png" Id="R08fd11cdc1f64499" /><Relationship Type="http://schemas.openxmlformats.org/officeDocument/2006/relationships/image" Target="/ppt/media/image18.png" Id="Reefa391e37174268" /><Relationship Type="http://schemas.openxmlformats.org/officeDocument/2006/relationships/image" Target="/ppt/media/image19.png" Id="Rde17e0ec42434e7b" /><Relationship Type="http://schemas.openxmlformats.org/officeDocument/2006/relationships/image" Target="/ppt/media/image20.png" Id="R2ee3e7afbd4b4933" /><Relationship Type="http://schemas.openxmlformats.org/officeDocument/2006/relationships/image" Target="/ppt/media/image21.png" Id="Rddf16e084a614c20" /><Relationship Type="http://schemas.openxmlformats.org/officeDocument/2006/relationships/image" Target="/ppt/media/image22.png" Id="R683924d556a349c0" /><Relationship Type="http://schemas.openxmlformats.org/officeDocument/2006/relationships/image" Target="/ppt/media/image23.png" Id="R2cefbb8c765d4a77" /><Relationship Type="http://schemas.openxmlformats.org/officeDocument/2006/relationships/notesSlide" Target="/ppt/notesSlides/notesSlide3.xml" Id="Ra61f5b846f44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4348d308994ea5" /><Relationship Type="http://schemas.openxmlformats.org/officeDocument/2006/relationships/image" Target="/ppt/media/image24.png" Id="R79124a7414914830" /><Relationship Type="http://schemas.openxmlformats.org/officeDocument/2006/relationships/image" Target="/ppt/media/image25.png" Id="Re8d2c8f2613f4e07" /><Relationship Type="http://schemas.openxmlformats.org/officeDocument/2006/relationships/image" Target="/ppt/media/image26.png" Id="Rad5dc8f008434307" /><Relationship Type="http://schemas.openxmlformats.org/officeDocument/2006/relationships/image" Target="/ppt/media/image27.png" Id="Rf974eb0741a746b1" /><Relationship Type="http://schemas.openxmlformats.org/officeDocument/2006/relationships/image" Target="/ppt/media/image28.png" Id="Rc38fdf45ff11472b" /><Relationship Type="http://schemas.openxmlformats.org/officeDocument/2006/relationships/image" Target="/ppt/media/image29.png" Id="R45030c49b5aa4cba" /><Relationship Type="http://schemas.openxmlformats.org/officeDocument/2006/relationships/image" Target="/ppt/media/image30.png" Id="Rc8b25ec3547f44a6" /><Relationship Type="http://schemas.openxmlformats.org/officeDocument/2006/relationships/image" Target="/ppt/media/image31.png" Id="Re918977b5990453d" /><Relationship Type="http://schemas.openxmlformats.org/officeDocument/2006/relationships/image" Target="/ppt/media/image32.png" Id="R679abaa1c16c43b0" /><Relationship Type="http://schemas.openxmlformats.org/officeDocument/2006/relationships/image" Target="/ppt/media/image33.png" Id="Rbb51160368f74356" /><Relationship Type="http://schemas.openxmlformats.org/officeDocument/2006/relationships/image" Target="/ppt/media/image34.png" Id="R74fc2bc6d05f42b2" /><Relationship Type="http://schemas.openxmlformats.org/officeDocument/2006/relationships/image" Target="/ppt/media/image35.png" Id="R16736aaec3394fc9" /><Relationship Type="http://schemas.openxmlformats.org/officeDocument/2006/relationships/image" Target="/ppt/media/image36.png" Id="R45d4a66f7c3b4c0c" /><Relationship Type="http://schemas.openxmlformats.org/officeDocument/2006/relationships/image" Target="/ppt/media/image37.png" Id="Rf74c39df2bb344b1" /><Relationship Type="http://schemas.openxmlformats.org/officeDocument/2006/relationships/image" Target="/ppt/media/image38.png" Id="R72c2784c13ed4048" /><Relationship Type="http://schemas.openxmlformats.org/officeDocument/2006/relationships/image" Target="/ppt/media/image39.png" Id="Ra8e4109aba754a41" /><Relationship Type="http://schemas.openxmlformats.org/officeDocument/2006/relationships/notesSlide" Target="/ppt/notesSlides/notesSlide4.xml" Id="R9513884a1c2b46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c4de154e364525" /><Relationship Type="http://schemas.openxmlformats.org/officeDocument/2006/relationships/image" Target="/ppt/media/image40.png" Id="Rc848f3ad8c8c451f" /><Relationship Type="http://schemas.openxmlformats.org/officeDocument/2006/relationships/image" Target="/ppt/media/image41.png" Id="Rb413f603b927478d" /><Relationship Type="http://schemas.openxmlformats.org/officeDocument/2006/relationships/image" Target="/ppt/media/image42.png" Id="R657e3e538d4d4a9a" /><Relationship Type="http://schemas.openxmlformats.org/officeDocument/2006/relationships/image" Target="/ppt/media/image43.png" Id="R4d53a5ea87394325" /><Relationship Type="http://schemas.openxmlformats.org/officeDocument/2006/relationships/image" Target="/ppt/media/image44.png" Id="R57e606164e4a45f3" /><Relationship Type="http://schemas.openxmlformats.org/officeDocument/2006/relationships/image" Target="/ppt/media/image45.png" Id="R12cccc2e9b9e434c" /><Relationship Type="http://schemas.openxmlformats.org/officeDocument/2006/relationships/image" Target="/ppt/media/image46.png" Id="R36e963d9b8ba40a9" /><Relationship Type="http://schemas.openxmlformats.org/officeDocument/2006/relationships/image" Target="/ppt/media/image47.png" Id="Rb5b5b0a7e0394907" /><Relationship Type="http://schemas.openxmlformats.org/officeDocument/2006/relationships/image" Target="/ppt/media/image48.png" Id="R7f01ac803451496b" /><Relationship Type="http://schemas.openxmlformats.org/officeDocument/2006/relationships/image" Target="/ppt/media/image49.png" Id="R8390fc79c7d44a85" /><Relationship Type="http://schemas.openxmlformats.org/officeDocument/2006/relationships/image" Target="/ppt/media/image50.png" Id="Rfd6c29416d314b51" /><Relationship Type="http://schemas.openxmlformats.org/officeDocument/2006/relationships/image" Target="/ppt/media/image51.png" Id="Rcca99effc7c745de" /><Relationship Type="http://schemas.openxmlformats.org/officeDocument/2006/relationships/image" Target="/ppt/media/image52.png" Id="R881f0efab46741c8" /><Relationship Type="http://schemas.openxmlformats.org/officeDocument/2006/relationships/notesSlide" Target="/ppt/notesSlides/notesSlide5.xml" Id="R355262dfc10244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f45c0832d743e2" /><Relationship Type="http://schemas.openxmlformats.org/officeDocument/2006/relationships/image" Target="/ppt/media/image53.png" Id="R55d470abd1974eaf" /><Relationship Type="http://schemas.openxmlformats.org/officeDocument/2006/relationships/image" Target="/ppt/media/image54.png" Id="R755f9d110b394fd7" /><Relationship Type="http://schemas.openxmlformats.org/officeDocument/2006/relationships/image" Target="/ppt/media/image55.png" Id="Re811d25d20e84be9" /><Relationship Type="http://schemas.openxmlformats.org/officeDocument/2006/relationships/notesSlide" Target="/ppt/notesSlides/notesSlide6.xml" Id="R0e90f78e851d44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d56b2be38c47de" /><Relationship Type="http://schemas.openxmlformats.org/officeDocument/2006/relationships/image" Target="/ppt/media/image56.png" Id="Rd0d262549059487a" /><Relationship Type="http://schemas.openxmlformats.org/officeDocument/2006/relationships/image" Target="/ppt/media/image57.png" Id="R670bd8990a6249ea" /><Relationship Type="http://schemas.openxmlformats.org/officeDocument/2006/relationships/image" Target="/ppt/media/image58.png" Id="R9779949bfc9848d9" /><Relationship Type="http://schemas.openxmlformats.org/officeDocument/2006/relationships/image" Target="/ppt/media/image59.png" Id="R91fe080a2a234160" /><Relationship Type="http://schemas.openxmlformats.org/officeDocument/2006/relationships/image" Target="/ppt/media/image60.png" Id="R723f3d0dfb144d33" /><Relationship Type="http://schemas.openxmlformats.org/officeDocument/2006/relationships/image" Target="/ppt/media/image61.png" Id="R1789a2bc969a4611" /><Relationship Type="http://schemas.openxmlformats.org/officeDocument/2006/relationships/image" Target="/ppt/media/image62.png" Id="R2b57ef97bc7c4753" /><Relationship Type="http://schemas.openxmlformats.org/officeDocument/2006/relationships/image" Target="/ppt/media/image63.png" Id="R640849e6b6914e69" /><Relationship Type="http://schemas.openxmlformats.org/officeDocument/2006/relationships/image" Target="/ppt/media/image64.png" Id="R387a356abf324e60" /><Relationship Type="http://schemas.openxmlformats.org/officeDocument/2006/relationships/notesSlide" Target="/ppt/notesSlides/notesSlide7.xml" Id="R918d01dbbedb4f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06623f19a4f0a" /><Relationship Type="http://schemas.openxmlformats.org/officeDocument/2006/relationships/notesSlide" Target="/ppt/notesSlides/notesSlide8.xml" Id="R1c8395dafe9c42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00822a3d044e9" /><Relationship Type="http://schemas.openxmlformats.org/officeDocument/2006/relationships/image" Target="/ppt/media/image65.png" Id="Rd543401c92504e5a" /><Relationship Type="http://schemas.openxmlformats.org/officeDocument/2006/relationships/notesSlide" Target="/ppt/notesSlides/notesSlide9.xml" Id="Ra4076470d95340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8b489d5214345" /><Relationship Type="http://schemas.openxmlformats.org/officeDocument/2006/relationships/image" Target="/ppt/media/image66.png" Id="Rc52d41495f28466e" /><Relationship Type="http://schemas.openxmlformats.org/officeDocument/2006/relationships/notesSlide" Target="/ppt/notesSlides/notesSlide10.xml" Id="R348170542aca4f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994ab660c49ae" /><Relationship Type="http://schemas.openxmlformats.org/officeDocument/2006/relationships/image" Target="/ppt/media/image67.png" Id="R24e73e96c14e4696" /><Relationship Type="http://schemas.openxmlformats.org/officeDocument/2006/relationships/notesSlide" Target="/ppt/notesSlides/notesSlide11.xml" Id="Rbbf25ba7171649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42008f0ff4ee6" /><Relationship Type="http://schemas.openxmlformats.org/officeDocument/2006/relationships/image" Target="/ppt/media/image68.png" Id="Re6851a215ce940be" /><Relationship Type="http://schemas.openxmlformats.org/officeDocument/2006/relationships/notesSlide" Target="/ppt/notesSlides/notesSlide12.xml" Id="Rf367d5c4739e44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6e2614504e4740" /><Relationship Type="http://schemas.openxmlformats.org/officeDocument/2006/relationships/image" Target="/ppt/media/image69.png" Id="R7dd84e4a9b95458d" /><Relationship Type="http://schemas.openxmlformats.org/officeDocument/2006/relationships/image" Target="/ppt/media/image70.png" Id="R97e410bb8cd2471f" /><Relationship Type="http://schemas.openxmlformats.org/officeDocument/2006/relationships/image" Target="/ppt/media/image71.png" Id="R3ba2626d2dcd46ad" /><Relationship Type="http://schemas.openxmlformats.org/officeDocument/2006/relationships/image" Target="/ppt/media/image72.png" Id="Ra2ffdd28500c4ba3" /><Relationship Type="http://schemas.openxmlformats.org/officeDocument/2006/relationships/image" Target="/ppt/media/image73.png" Id="R4d15a33bf31d4ed9" /><Relationship Type="http://schemas.openxmlformats.org/officeDocument/2006/relationships/image" Target="/ppt/media/image74.png" Id="R8d58ead788754d82" /><Relationship Type="http://schemas.openxmlformats.org/officeDocument/2006/relationships/image" Target="/ppt/media/image75.png" Id="R8ac692ab515c48c4" /><Relationship Type="http://schemas.openxmlformats.org/officeDocument/2006/relationships/image" Target="/ppt/media/image76.png" Id="R6da22da185814ba6" /><Relationship Type="http://schemas.openxmlformats.org/officeDocument/2006/relationships/image" Target="/ppt/media/image77.png" Id="R9ae022d25f944aef" /><Relationship Type="http://schemas.openxmlformats.org/officeDocument/2006/relationships/notesSlide" Target="/ppt/notesSlides/notesSlide13.xml" Id="R0fb65a101a2249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e6ad50fcdd4a6d" /><Relationship Type="http://schemas.openxmlformats.org/officeDocument/2006/relationships/image" Target="/ppt/media/image78.png" Id="R34d746f08b9e40fa" /><Relationship Type="http://schemas.openxmlformats.org/officeDocument/2006/relationships/image" Target="/ppt/media/image79.png" Id="R01208b2e6ffb492e" /><Relationship Type="http://schemas.openxmlformats.org/officeDocument/2006/relationships/notesSlide" Target="/ppt/notesSlides/notesSlide14.xml" Id="R2f50dbca31d747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ABEE7D4-E952-48BD-B2B7-4B84DEC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2d682a5cb6413f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1BF3BB2-03D6-4B28-88B5-4E5B46E3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5244" y="0"/>
            <a:ext cx="9362756" cy="10287000"/>
          </a:xfrm>
          <a:custGeom xmlns:a="http://schemas.openxmlformats.org/drawingml/2006/main">
            <a:rect l="l" t="t" r="r" b="b"/>
            <a:pathLst>
              <a:path w="9362756" h="10287000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631f2111de45bc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2504613-0733-4B48-A8F5-EF3FD3F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013" y="2141440"/>
            <a:ext cx="8650283" cy="18993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308"/>
              </a:lnSpc>
              <a:buNone/>
            </a:pPr>
            <a:r>
              <a:rPr sz="14308" b="1" spc="-426">
                <a:solidFill>
                  <a:srgbClr val="FA59B1"/>
                </a:solidFill>
                <a:latin typeface="DM Sans Bold"/>
                <a:ea typeface="DM Sans Bold"/>
                <a:cs typeface="DM Sans Bold"/>
              </a:rPr>
              <a:t>Tech</a:t>
            </a:r>
            <a:r>
              <a:rPr sz="14308" b="1" spc="-426">
                <a:solidFill>
                  <a:srgbClr val="FFFFFF"/>
                </a:solidFill>
                <a:latin typeface="DM Sans Bold"/>
                <a:ea typeface="DM Sans Bold"/>
                <a:cs typeface="DM Sans Bold"/>
              </a:rPr>
              <a:t>Store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90ED18B-624B-4FCD-A150-8571359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013" y="4488385"/>
            <a:ext cx="7309591" cy="65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48"/>
              </a:lnSpc>
              <a:buNone/>
            </a:pPr>
            <a:r>
              <a:rPr sz="4948" b="1" spc="-48">
                <a:solidFill>
                  <a:srgbClr val="FA59B1"/>
                </a:solidFill>
                <a:latin typeface="DM Sans Bold"/>
                <a:ea typeface="DM Sans Bold"/>
                <a:cs typeface="DM Sans Bold"/>
              </a:rPr>
              <a:t>Evolução </a:t>
            </a:r>
            <a:r>
              <a:rPr sz="4948" b="1" spc="-48">
                <a:solidFill>
                  <a:srgbClr val="FFFFFF"/>
                </a:solidFill>
                <a:latin typeface="DM Sans Bold"/>
                <a:ea typeface="DM Sans Bold"/>
                <a:cs typeface="DM Sans Bold"/>
              </a:rPr>
              <a:t>da </a:t>
            </a:r>
            <a:r>
              <a:rPr sz="4948" b="1" spc="-48">
                <a:solidFill>
                  <a:srgbClr val="B071C2"/>
                </a:solidFill>
                <a:latin typeface="DM Sans Bold"/>
                <a:ea typeface="DM Sans Bold"/>
                <a:cs typeface="DM Sans Bold"/>
              </a:rPr>
              <a:t>Arq</a:t>
            </a:r>
            <a:r>
              <a:rPr sz="4948" b="1" spc="-48">
                <a:solidFill>
                  <a:srgbClr val="5B7DDD"/>
                </a:solidFill>
                <a:latin typeface="DM Sans Bold"/>
                <a:ea typeface="DM Sans Bold"/>
                <a:cs typeface="DM Sans Bold"/>
              </a:rPr>
              <a:t>uitetura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2B5D320-7438-4FCB-83D1-A36C96F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5356674"/>
            <a:ext cx="2187560" cy="218640"/>
          </a:xfrm>
          <a:custGeom xmlns:a="http://schemas.openxmlformats.org/drawingml/2006/main">
            <a:rect l="l" t="t" r="r" b="b"/>
            <a:pathLst>
              <a:path w="2187560" h="218640">
                <a:moveTo>
                  <a:pt x="0" y="0"/>
                </a:moveTo>
                <a:lnTo>
                  <a:pt x="2187560" y="0"/>
                </a:lnTo>
                <a:lnTo>
                  <a:pt x="2187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5001ca31ef4735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D73FEB1-02AD-4368-866B-C539820E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81" y="5989726"/>
            <a:ext cx="7833501" cy="6528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4"/>
              </a:lnSpc>
              <a:buNone/>
            </a:pPr>
            <a:r>
              <a:rPr sz="2654" b="1" spc="-25">
                <a:solidFill>
                  <a:srgbClr val="FA59B1"/>
                </a:solidFill>
                <a:latin typeface="DM Sans Bold"/>
                <a:ea typeface="DM Sans Bold"/>
                <a:cs typeface="DM Sans Bold"/>
              </a:rPr>
              <a:t>Problemática 01</a:t>
            </a:r>
            <a:r>
              <a:rPr sz="2654" b="1" spc="-25">
                <a:solidFill>
                  <a:srgbClr val="FFFFFF"/>
                </a:solidFill>
                <a:latin typeface="DM Sans Bold"/>
                <a:ea typeface="DM Sans Bold"/>
                <a:cs typeface="DM Sans Bold"/>
              </a:rPr>
              <a:t> — Mine Projeto Integrador de DevOps</a:t>
            </a:r>
          </a:p>
        </p:txBody>
      </p:sp>
    </p:spTree>
    <p:extLst>
      <p:ext uri="{BB962C8B-B14F-4D97-AF65-F5344CB8AC3E}">
        <p14:creationId xmlns:p14="http://schemas.microsoft.com/office/powerpoint/2010/main" val="18727399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F1454D5-2291-4CD3-8D81-D238AC8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5acd2b36ff747f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722A561-944F-4275-A4A4-8B650C63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1758134" cy="10287000"/>
          </a:xfrm>
          <a:custGeom xmlns:a="http://schemas.openxmlformats.org/drawingml/2006/main">
            <a:rect l="l" t="t" r="r" b="b"/>
            <a:pathLst>
              <a:path w="11758134" h="10287000">
                <a:moveTo>
                  <a:pt x="0" y="0"/>
                </a:moveTo>
                <a:lnTo>
                  <a:pt x="11758134" y="0"/>
                </a:lnTo>
                <a:lnTo>
                  <a:pt x="11758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c7cfc1401a484e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0EF791B-67CD-4D69-9993-2F5714FD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156" y="1274647"/>
            <a:ext cx="5451636" cy="99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543"/>
              </a:lnSpc>
              <a:buNone/>
            </a:pPr>
            <a:r>
              <a:rPr sz="7543" b="1" spc="-73">
                <a:solidFill>
                  <a:srgbClr val="FFFFFF"/>
                </a:solidFill>
                <a:latin typeface="DM Sans Bold"/>
                <a:ea typeface="DM Sans Bold"/>
                <a:cs typeface="DM Sans Bold"/>
              </a:rPr>
              <a:t>O problema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DC7513E-A4E6-461B-B12A-46A4B8EB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64" y="2424799"/>
            <a:ext cx="7780771" cy="585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81"/>
              </a:lnSpc>
              <a:buNone/>
            </a:pPr>
            <a:r>
              <a:rPr sz="3616" b="1" spc="-35">
                <a:solidFill>
                  <a:srgbClr val="E473A9"/>
                </a:solidFill>
                <a:latin typeface="DM Sans Bold"/>
                <a:ea typeface="DM Sans Bold"/>
                <a:cs typeface="DM Sans Bold"/>
              </a:rPr>
              <a:t>Crescemos, </a:t>
            </a:r>
            <a:r>
              <a:rPr sz="3616" spc="-35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mas a </a:t>
            </a:r>
            <a:r>
              <a:rPr sz="3616" b="1" spc="-35">
                <a:solidFill>
                  <a:srgbClr val="B581C6"/>
                </a:solidFill>
                <a:latin typeface="DM Sans Bold"/>
                <a:ea typeface="DM Sans Bold"/>
                <a:cs typeface="DM Sans Bold"/>
              </a:rPr>
              <a:t>arquitetura </a:t>
            </a:r>
            <a:r>
              <a:rPr sz="3616" b="1" spc="-35">
                <a:solidFill>
                  <a:srgbClr val="5B9FE6"/>
                </a:solidFill>
                <a:latin typeface="DM Sans Bold"/>
                <a:ea typeface="DM Sans Bold"/>
                <a:cs typeface="DM Sans Bold"/>
              </a:rPr>
              <a:t>não.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3A3278A-ADA8-490E-B64B-DF0CE5FC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524" y="3534033"/>
            <a:ext cx="5814836" cy="879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53"/>
              </a:lnSpc>
              <a:buNone/>
            </a:pP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Uma aplicação monolítica concentra autenticação, usuários e produtos.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423699E-6C78-4D0C-93DF-BAE0DFB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30" y="4859386"/>
            <a:ext cx="6254169" cy="879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53"/>
              </a:lnSpc>
              <a:buNone/>
            </a:pP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Novas funcionalidades são adicionadas</a:t>
            </a:r>
          </a:p>
          <a:p xmlns:a="http://schemas.openxmlformats.org/drawingml/2006/main">
            <a:pPr algn="l">
              <a:lnSpc>
                <a:spcPts val="3653"/>
              </a:lnSpc>
              <a:buNone/>
            </a:pP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no </a:t>
            </a:r>
            <a:r>
              <a:rPr sz="2707" b="1" spc="-26">
                <a:solidFill>
                  <a:srgbClr val="E473A9"/>
                </a:solidFill>
                <a:latin typeface="DM Sans Bold"/>
                <a:ea typeface="DM Sans Bold"/>
                <a:cs typeface="DM Sans Bold"/>
              </a:rPr>
              <a:t>mesmo bloco.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AD6FBC4-E494-4ADF-A27C-55C0E9CE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620" y="6546201"/>
            <a:ext cx="6305170" cy="879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53"/>
              </a:lnSpc>
              <a:buNone/>
            </a:pP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Mudanças em uma parte podem </a:t>
            </a:r>
            <a:r>
              <a:rPr sz="2707" b="1" spc="-26">
                <a:solidFill>
                  <a:srgbClr val="E473A9"/>
                </a:solidFill>
                <a:latin typeface="DM Sans Bold"/>
                <a:ea typeface="DM Sans Bold"/>
                <a:cs typeface="DM Sans Bold"/>
              </a:rPr>
              <a:t>afetar funcionalidades</a:t>
            </a: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não relacionadas.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4E89D67-1642-4AF6-BE82-66E9659E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032" y="7976981"/>
            <a:ext cx="6664020" cy="879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53"/>
              </a:lnSpc>
              <a:buNone/>
            </a:pP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arquitetura </a:t>
            </a:r>
            <a:r>
              <a:rPr sz="2707" b="1" spc="-26">
                <a:solidFill>
                  <a:srgbClr val="5B9FE6"/>
                </a:solidFill>
                <a:latin typeface="DM Sans Bold"/>
                <a:ea typeface="DM Sans Bold"/>
                <a:cs typeface="DM Sans Bold"/>
              </a:rPr>
              <a:t>dificulta</a:t>
            </a:r>
            <a:r>
              <a:rPr sz="2707" spc="-26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 manutenção, evolução e escalabilidade independentes.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C598C8-D0F5-4843-8DAC-0D23D01C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8242">
            <a:off x="14480894" y="1472512"/>
            <a:ext cx="3122670" cy="787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08"/>
              </a:lnSpc>
              <a:buNone/>
            </a:pPr>
            <a:r>
              <a:rPr sz="6008" b="1" spc="-149">
                <a:solidFill>
                  <a:srgbClr val="FF98D5"/>
                </a:solidFill>
                <a:latin typeface="TT Rounds Condensed Bold"/>
                <a:ea typeface="TT Rounds Condensed Bold"/>
                <a:cs typeface="TT Rounds Condensed Bold"/>
              </a:rPr>
              <a:t>Tech</a:t>
            </a:r>
            <a:r>
              <a:rPr sz="6008" b="1" spc="-149">
                <a:solidFill>
                  <a:srgbClr val="C1E4FF"/>
                </a:solidFill>
                <a:latin typeface="TT Rounds Condensed Bold"/>
                <a:ea typeface="TT Rounds Condensed Bold"/>
                <a:cs typeface="TT Rounds Condensed Bold"/>
              </a:rPr>
              <a:t>Store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C9C1081-AFD4-40ED-92D0-30A35519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5783021"/>
            <a:ext cx="2187560" cy="1289974"/>
          </a:xfrm>
          <a:custGeom xmlns:a="http://schemas.openxmlformats.org/drawingml/2006/main">
            <a:rect l="l" t="t" r="r" b="b"/>
            <a:pathLst>
              <a:path w="2187560" h="1289974">
                <a:moveTo>
                  <a:pt x="0" y="0"/>
                </a:moveTo>
                <a:lnTo>
                  <a:pt x="2187560" y="0"/>
                </a:lnTo>
                <a:lnTo>
                  <a:pt x="218756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21a7e562b94236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F626377-BCEE-46E2-8143-71335A0E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19196" y="5138034"/>
            <a:ext cx="1968804" cy="1508614"/>
          </a:xfrm>
          <a:custGeom xmlns:a="http://schemas.openxmlformats.org/drawingml/2006/main"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e1a88833f04df9"/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A2CF8AB-B10B-40AE-9E53-4961B1E3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73866" y="6209369"/>
            <a:ext cx="2614134" cy="2372241"/>
          </a:xfrm>
          <a:custGeom xmlns:a="http://schemas.openxmlformats.org/drawingml/2006/main">
            <a:rect l="l" t="t" r="r" b="b"/>
            <a:pathLst>
              <a:path w="2614134" h="2372241">
                <a:moveTo>
                  <a:pt x="0" y="0"/>
                </a:moveTo>
                <a:lnTo>
                  <a:pt x="2614134" y="0"/>
                </a:lnTo>
                <a:lnTo>
                  <a:pt x="261413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92f33910314d05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E59673-0991-4529-A57E-B357901B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8086" y="4493047"/>
            <a:ext cx="5895474" cy="3651284"/>
          </a:xfrm>
          <a:custGeom xmlns:a="http://schemas.openxmlformats.org/drawingml/2006/main">
            <a:rect l="l" t="t" r="r" b="b"/>
            <a:pathLst>
              <a:path w="5895474" h="3651284">
                <a:moveTo>
                  <a:pt x="0" y="0"/>
                </a:moveTo>
                <a:lnTo>
                  <a:pt x="5895474" y="0"/>
                </a:lnTo>
                <a:lnTo>
                  <a:pt x="589547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64cc0bf943485a"/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C430E8A-0614-4424-BC78-F065C3D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707051"/>
            <a:ext cx="3926670" cy="1508614"/>
          </a:xfrm>
          <a:custGeom xmlns:a="http://schemas.openxmlformats.org/drawingml/2006/main">
            <a:rect l="l" t="t" r="r" b="b"/>
            <a:pathLst>
              <a:path w="3926670" h="1508614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6838989e284b14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3FDCBDC-02DB-4719-8F0A-6978BF3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8997026"/>
            <a:ext cx="3051646" cy="1289974"/>
          </a:xfrm>
          <a:custGeom xmlns:a="http://schemas.openxmlformats.org/drawingml/2006/main">
            <a:rect l="l" t="t" r="r" b="b"/>
            <a:pathLst>
              <a:path w="3051646" h="1289974">
                <a:moveTo>
                  <a:pt x="0" y="0"/>
                </a:moveTo>
                <a:lnTo>
                  <a:pt x="3051646" y="0"/>
                </a:lnTo>
                <a:lnTo>
                  <a:pt x="305164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241ba60409434b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2125252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885EFCD-DFEB-4804-AB1E-3D9853FF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cf76d14f344e55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202F569-0DDC-4BD5-9C94-AC685F9B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065" y="1123280"/>
            <a:ext cx="8402885" cy="972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369"/>
              </a:lnSpc>
              <a:buNone/>
            </a:pPr>
            <a:r>
              <a:rPr sz="7369" b="1" spc="-147">
                <a:solidFill>
                  <a:srgbClr val="F4F4F4"/>
                </a:solidFill>
                <a:latin typeface="DM Sans Bold"/>
                <a:ea typeface="DM Sans Bold"/>
                <a:cs typeface="DM Sans Bold"/>
              </a:rPr>
              <a:t>Quem é impactado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CC86426-2DBD-4F5D-B87A-FC176727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596" y="2213290"/>
            <a:ext cx="6549729" cy="5633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17"/>
              </a:lnSpc>
              <a:buNone/>
            </a:pPr>
            <a:r>
              <a:rPr sz="3421" b="1" spc="-68">
                <a:solidFill>
                  <a:srgbClr val="E16897"/>
                </a:solidFill>
                <a:latin typeface="DM Sans Bold"/>
                <a:ea typeface="DM Sans Bold"/>
                <a:cs typeface="DM Sans Bold"/>
              </a:rPr>
              <a:t>O problema </a:t>
            </a:r>
            <a:r>
              <a:rPr sz="3421" b="1" spc="-68">
                <a:solidFill>
                  <a:srgbClr val="C8A4B6"/>
                </a:solidFill>
                <a:latin typeface="DM Sans Bold"/>
                <a:ea typeface="DM Sans Bold"/>
                <a:cs typeface="DM Sans Bold"/>
              </a:rPr>
              <a:t>afeta </a:t>
            </a:r>
            <a:r>
              <a:rPr sz="3421" b="1" spc="-68">
                <a:solidFill>
                  <a:srgbClr val="A073B2"/>
                </a:solidFill>
                <a:latin typeface="DM Sans Bold"/>
                <a:ea typeface="DM Sans Bold"/>
                <a:cs typeface="DM Sans Bold"/>
              </a:rPr>
              <a:t>toda </a:t>
            </a:r>
            <a:r>
              <a:rPr sz="3421" b="1" spc="-68">
                <a:solidFill>
                  <a:srgbClr val="4C87D1"/>
                </a:solidFill>
                <a:latin typeface="DM Sans Bold"/>
                <a:ea typeface="DM Sans Bold"/>
                <a:cs typeface="DM Sans Bold"/>
              </a:rPr>
              <a:t>a cadeia.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62D5210-284C-4E1C-86C4-CBE43544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3421712"/>
            <a:ext cx="667206" cy="655919"/>
          </a:xfrm>
          <a:custGeom xmlns:a="http://schemas.openxmlformats.org/drawingml/2006/main"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a2497cf52e04c16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1DA592F-AB46-4129-B3EF-01B56C34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4066699"/>
            <a:ext cx="229694" cy="3651284"/>
          </a:xfrm>
          <a:custGeom xmlns:a="http://schemas.openxmlformats.org/drawingml/2006/main">
            <a:rect l="l" t="t" r="r" b="b"/>
            <a:pathLst>
              <a:path w="229694" h="3651284">
                <a:moveTo>
                  <a:pt x="0" y="0"/>
                </a:moveTo>
                <a:lnTo>
                  <a:pt x="229694" y="0"/>
                </a:lnTo>
                <a:lnTo>
                  <a:pt x="22969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ec240046164da2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8DB0FB5-12B6-4A86-B35D-45773E2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5356674"/>
            <a:ext cx="667206" cy="644987"/>
          </a:xfrm>
          <a:custGeom xmlns:a="http://schemas.openxmlformats.org/drawingml/2006/main"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c01344382f498c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890B97B-5466-48A4-80FD-15ABD71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7499343"/>
            <a:ext cx="667206" cy="644987"/>
          </a:xfrm>
          <a:custGeom xmlns:a="http://schemas.openxmlformats.org/drawingml/2006/main"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455e84d0ddb4691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BD5741-38FA-47DC-B91A-3D40A7F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4337" y="3572799"/>
            <a:ext cx="4695196" cy="4648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20"/>
              </a:lnSpc>
              <a:buNone/>
            </a:pPr>
            <a:r>
              <a:rPr sz="2904" b="1" spc="-116">
                <a:solidFill>
                  <a:srgbClr val="E16897"/>
                </a:solidFill>
                <a:latin typeface="DM Sans Bold"/>
                <a:ea typeface="DM Sans Bold"/>
                <a:cs typeface="DM Sans Bold"/>
              </a:rPr>
              <a:t>Equipe de desenvolvimento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E60305-ADD2-4B1C-B922-70491F2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034" y="4129329"/>
            <a:ext cx="7925551" cy="4170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1"/>
              </a:lnSpc>
              <a:buNone/>
            </a:pPr>
            <a:r>
              <a:rPr sz="2601" spc="-104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Manutenção mais lenta, mais arriscada e difícil de testar.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A45AE42-968E-4707-B422-7F5FACAD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0354" y="4919394"/>
            <a:ext cx="6759560" cy="229572"/>
          </a:xfrm>
          <a:custGeom xmlns:a="http://schemas.openxmlformats.org/drawingml/2006/main">
            <a:rect l="l" t="t" r="r" b="b"/>
            <a:pathLst>
              <a:path w="6759560" h="229572">
                <a:moveTo>
                  <a:pt x="0" y="0"/>
                </a:moveTo>
                <a:lnTo>
                  <a:pt x="6759560" y="0"/>
                </a:lnTo>
                <a:lnTo>
                  <a:pt x="6759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fd11cdc1f64499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C9FA12-A7A9-4B35-AF2B-2EC2AE07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885" y="5377337"/>
            <a:ext cx="4440440" cy="4910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09"/>
              </a:lnSpc>
              <a:buNone/>
            </a:pPr>
            <a:r>
              <a:rPr sz="2970" b="1" spc="-118">
                <a:solidFill>
                  <a:srgbClr val="A073B2"/>
                </a:solidFill>
                <a:latin typeface="DM Sans Bold"/>
                <a:ea typeface="DM Sans Bold"/>
                <a:cs typeface="DM Sans Bold"/>
              </a:rPr>
              <a:t>Plataforma como um todo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FA960AA-5867-46DB-A090-95F7AB8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1480" y="5960436"/>
            <a:ext cx="5980899" cy="8121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45"/>
              </a:lnSpc>
              <a:buNone/>
            </a:pPr>
            <a:r>
              <a:rPr sz="2478" spc="-99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Falhas em um módulo podem comprometer</a:t>
            </a:r>
          </a:p>
          <a:p xmlns:a="http://schemas.openxmlformats.org/drawingml/2006/main">
            <a:pPr algn="l">
              <a:lnSpc>
                <a:spcPts val="3345"/>
              </a:lnSpc>
              <a:buNone/>
            </a:pPr>
            <a:r>
              <a:rPr sz="2478" spc="-99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 sistema inteiro.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40FF049-EB9C-4B65-9D23-9E6EF20C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0354" y="7062064"/>
            <a:ext cx="6759560" cy="229572"/>
          </a:xfrm>
          <a:custGeom xmlns:a="http://schemas.openxmlformats.org/drawingml/2006/main">
            <a:rect l="l" t="t" r="r" b="b"/>
            <a:pathLst>
              <a:path w="6759560" h="229572">
                <a:moveTo>
                  <a:pt x="0" y="0"/>
                </a:moveTo>
                <a:lnTo>
                  <a:pt x="6759560" y="0"/>
                </a:lnTo>
                <a:lnTo>
                  <a:pt x="6759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fa391e37174268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AC76AA-BA8C-4F88-B7D8-C07D1A93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975" y="7532263"/>
            <a:ext cx="2131438" cy="498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98"/>
              </a:lnSpc>
              <a:buNone/>
            </a:pPr>
            <a:r>
              <a:rPr sz="3036" b="1" spc="-121">
                <a:solidFill>
                  <a:srgbClr val="4C87D1"/>
                </a:solidFill>
                <a:latin typeface="DM Sans Bold"/>
                <a:ea typeface="DM Sans Bold"/>
                <a:cs typeface="DM Sans Bold"/>
              </a:rPr>
              <a:t>Usuário final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F8E7BAD-1B68-4A6F-AF6B-39DF82D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346" y="8123203"/>
            <a:ext cx="5194318" cy="803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9"/>
              </a:lnSpc>
              <a:buNone/>
            </a:pPr>
            <a:r>
              <a:rPr sz="2430" spc="-97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Indisponibilidade do sistema por causa</a:t>
            </a:r>
          </a:p>
          <a:p xmlns:a="http://schemas.openxmlformats.org/drawingml/2006/main">
            <a:pPr algn="l">
              <a:lnSpc>
                <a:spcPts val="3279"/>
              </a:lnSpc>
              <a:buNone/>
            </a:pPr>
            <a:r>
              <a:rPr sz="2430" spc="-97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de problemas pontuais.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6AEE295-1E90-4AF1-B457-7C65515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8086" y="5783021"/>
            <a:ext cx="2187560" cy="1289974"/>
          </a:xfrm>
          <a:custGeom xmlns:a="http://schemas.openxmlformats.org/drawingml/2006/main">
            <a:rect l="l" t="t" r="r" b="b"/>
            <a:pathLst>
              <a:path w="2187560" h="1289974">
                <a:moveTo>
                  <a:pt x="0" y="0"/>
                </a:moveTo>
                <a:lnTo>
                  <a:pt x="2187560" y="0"/>
                </a:lnTo>
                <a:lnTo>
                  <a:pt x="218756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17e0ec42434e7b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C466B1F-7A36-4C82-927E-C8DD53F4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4493047"/>
            <a:ext cx="6322048" cy="3869923"/>
          </a:xfrm>
          <a:custGeom xmlns:a="http://schemas.openxmlformats.org/drawingml/2006/main">
            <a:rect l="l" t="t" r="r" b="b"/>
            <a:pathLst>
              <a:path w="6322048" h="3869923">
                <a:moveTo>
                  <a:pt x="0" y="0"/>
                </a:moveTo>
                <a:lnTo>
                  <a:pt x="6322048" y="0"/>
                </a:lnTo>
                <a:lnTo>
                  <a:pt x="632204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e3e7afbd4b4933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C671681-7E75-44E0-9E54-5163EC43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16000" y="7925691"/>
            <a:ext cx="4572000" cy="1727254"/>
          </a:xfrm>
          <a:custGeom xmlns:a="http://schemas.openxmlformats.org/drawingml/2006/main">
            <a:rect l="l" t="t" r="r" b="b"/>
            <a:pathLst>
              <a:path w="4572000" h="1727254">
                <a:moveTo>
                  <a:pt x="0" y="0"/>
                </a:moveTo>
                <a:lnTo>
                  <a:pt x="4572000" y="0"/>
                </a:lnTo>
                <a:lnTo>
                  <a:pt x="457200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f16e084a614c20"/>
            <a:stretch>
              <a:fillRect l="0" t="0" r="0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1F3B0F0-4454-4A8A-AA7E-271DF38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92622" y="4919394"/>
            <a:ext cx="2395378" cy="3662216"/>
          </a:xfrm>
          <a:custGeom xmlns:a="http://schemas.openxmlformats.org/drawingml/2006/main">
            <a:rect l="l" t="t" r="r" b="b"/>
            <a:pathLst>
              <a:path w="2395378" h="3662216">
                <a:moveTo>
                  <a:pt x="0" y="0"/>
                </a:moveTo>
                <a:lnTo>
                  <a:pt x="2395378" y="0"/>
                </a:lnTo>
                <a:lnTo>
                  <a:pt x="2395378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3924d556a349c0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F4B0AF8-2DF4-4187-8B04-0B46F85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9204733"/>
            <a:ext cx="2832890" cy="1082267"/>
          </a:xfrm>
          <a:custGeom xmlns:a="http://schemas.openxmlformats.org/drawingml/2006/main">
            <a:rect l="l" t="t" r="r" b="b"/>
            <a:pathLst>
              <a:path w="2832890" h="1082267">
                <a:moveTo>
                  <a:pt x="0" y="0"/>
                </a:moveTo>
                <a:lnTo>
                  <a:pt x="2832890" y="0"/>
                </a:lnTo>
                <a:lnTo>
                  <a:pt x="283289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efbb8c765d4a7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9717236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5D0ACD9-AA1A-4F48-A9EA-1F4FF510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124a7414914830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4C53654-DB67-4FE8-B27D-C6C83051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6440" y="634055"/>
            <a:ext cx="11123742" cy="7083928"/>
          </a:xfrm>
          <a:custGeom xmlns:a="http://schemas.openxmlformats.org/drawingml/2006/main">
            <a:rect l="l" t="t" r="r" b="b"/>
            <a:pathLst>
              <a:path w="11123742" h="7083928">
                <a:moveTo>
                  <a:pt x="0" y="0"/>
                </a:moveTo>
                <a:lnTo>
                  <a:pt x="11123742" y="0"/>
                </a:lnTo>
                <a:lnTo>
                  <a:pt x="11123742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d2c8f2613f4e07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F8555EF-F978-43D4-B30C-02D0D63E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6440" y="7499343"/>
            <a:ext cx="11123742" cy="1934962"/>
          </a:xfrm>
          <a:custGeom xmlns:a="http://schemas.openxmlformats.org/drawingml/2006/main">
            <a:rect l="l" t="t" r="r" b="b"/>
            <a:pathLst>
              <a:path w="11123742" h="1934962">
                <a:moveTo>
                  <a:pt x="0" y="0"/>
                </a:moveTo>
                <a:lnTo>
                  <a:pt x="11123742" y="0"/>
                </a:lnTo>
                <a:lnTo>
                  <a:pt x="1112374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5dc8f008434307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C770A16-E30D-489B-BB39-7F529C7B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784" y="1102174"/>
            <a:ext cx="5999761" cy="15706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255"/>
              </a:lnSpc>
              <a:buNone/>
            </a:pPr>
            <a:r>
              <a:rPr sz="5211" b="1" spc="-129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A solução proposta e a arquitetura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74471FB-971D-49FA-906A-4D1C7C1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2995365"/>
            <a:ext cx="5895474" cy="229572"/>
          </a:xfrm>
          <a:custGeom xmlns:a="http://schemas.openxmlformats.org/drawingml/2006/main">
            <a:rect l="l" t="t" r="r" b="b"/>
            <a:pathLst>
              <a:path w="5895474" h="229572">
                <a:moveTo>
                  <a:pt x="0" y="0"/>
                </a:moveTo>
                <a:lnTo>
                  <a:pt x="5895474" y="0"/>
                </a:lnTo>
                <a:lnTo>
                  <a:pt x="5895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74eb0741a746b1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AA5A7CE-2320-42DC-BE73-8C2D79FB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940" y="3718452"/>
            <a:ext cx="4663030" cy="842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Evolução do monólito para </a:t>
            </a:r>
            <a:r>
              <a:rPr sz="2654" b="1" spc="-66">
                <a:solidFill>
                  <a:srgbClr val="E07BB0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componentes independentes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11C8B4B-104D-42D9-AF30-4E068DB3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757" y="4953441"/>
            <a:ext cx="5481291" cy="842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Serviço de </a:t>
            </a:r>
            <a:r>
              <a:rPr sz="2654" b="1" spc="-66">
                <a:solidFill>
                  <a:srgbClr val="E07BB0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Autenticação/Usuários</a:t>
            </a: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: login, cadastro, token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E428A42-C419-4300-BC92-B27EFA4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73" y="6263734"/>
            <a:ext cx="3279739" cy="842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Serviço de </a:t>
            </a:r>
            <a:r>
              <a:rPr sz="2654" b="1" spc="-66">
                <a:solidFill>
                  <a:srgbClr val="A979C2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Produtos</a:t>
            </a: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:</a:t>
            </a:r>
          </a:p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CRUD do catálogo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9D77DE-326D-4CDE-9AE5-F61CFA8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31" y="7543906"/>
            <a:ext cx="5703906" cy="1270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b="1" spc="-66">
                <a:solidFill>
                  <a:srgbClr val="5C93D5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API Gateway: </a:t>
            </a:r>
          </a:p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ponto único de entrada,</a:t>
            </a:r>
          </a:p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654" spc="-66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roteia requisições ao serviço correto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917128-D476-4B5C-A2EE-719CCCE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7295" y="8061670"/>
            <a:ext cx="8477967" cy="920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64"/>
              </a:lnSpc>
              <a:buNone/>
            </a:pPr>
            <a:r>
              <a:rPr sz="2896" b="1" spc="-72">
                <a:solidFill>
                  <a:srgbClr val="E07BB0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Fluxo: </a:t>
            </a:r>
            <a:r>
              <a:rPr sz="2896" spc="-72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cliente → API Gateway → serviço correto → </a:t>
            </a:r>
            <a:r>
              <a:rPr sz="2896" b="1" spc="-72">
                <a:solidFill>
                  <a:srgbClr val="5C93D5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banco de dados independente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2B77761-B721-48C2-A233-F802D941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5196" y="3421712"/>
            <a:ext cx="1968804" cy="1945894"/>
          </a:xfrm>
          <a:custGeom xmlns:a="http://schemas.openxmlformats.org/drawingml/2006/main"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8fdf45ff11472b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0835D64-7E9A-4048-99D5-442A5D6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9217" y="4092488"/>
            <a:ext cx="1444150" cy="636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58"/>
              </a:lnSpc>
              <a:buNone/>
            </a:pPr>
            <a:r>
              <a:rPr sz="1968" b="1" spc="-49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Cliente</a:t>
            </a:r>
          </a:p>
          <a:p xmlns:a="http://schemas.openxmlformats.org/drawingml/2006/main">
            <a:pPr algn="ctr">
              <a:lnSpc>
                <a:spcPts val="2558"/>
              </a:lnSpc>
              <a:buNone/>
            </a:pPr>
            <a:r>
              <a:rPr sz="1968" spc="-49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web / mobile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AE53F11-564A-4244-8067-B7117ACF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5244" y="4066699"/>
            <a:ext cx="656268" cy="655919"/>
          </a:xfrm>
          <a:custGeom xmlns:a="http://schemas.openxmlformats.org/drawingml/2006/main"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5030c49b5aa4cba"/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ED6F9DC-FD4E-46A2-84B2-F36EEE06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0574" y="2142670"/>
            <a:ext cx="1968804" cy="4503979"/>
          </a:xfrm>
          <a:custGeom xmlns:a="http://schemas.openxmlformats.org/drawingml/2006/main">
            <a:rect l="l" t="t" r="r" b="b"/>
            <a:pathLst>
              <a:path w="1968804" h="4503979">
                <a:moveTo>
                  <a:pt x="0" y="0"/>
                </a:moveTo>
                <a:lnTo>
                  <a:pt x="1968804" y="0"/>
                </a:lnTo>
                <a:lnTo>
                  <a:pt x="1968804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b25ec3547f44a6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9DC5E7B-609D-4149-B34E-478DD47B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9823" y="3718452"/>
            <a:ext cx="1418707" cy="842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50"/>
              </a:lnSpc>
              <a:buNone/>
            </a:pPr>
            <a:r>
              <a:rPr sz="2654" b="1" spc="-66">
                <a:solidFill>
                  <a:srgbClr val="E07BB0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API</a:t>
            </a:r>
          </a:p>
          <a:p xmlns:a="http://schemas.openxmlformats.org/drawingml/2006/main">
            <a:pPr algn="ctr">
              <a:lnSpc>
                <a:spcPts val="3450"/>
              </a:lnSpc>
              <a:buNone/>
            </a:pPr>
            <a:r>
              <a:rPr sz="2654" b="1" spc="-66">
                <a:solidFill>
                  <a:srgbClr val="E07BB0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Gateway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B5BD45-14DE-42A5-BB3B-92009B0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9439" y="4833225"/>
            <a:ext cx="1319476" cy="635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61"/>
              </a:lnSpc>
              <a:buNone/>
            </a:pPr>
            <a:r>
              <a:rPr sz="2047" spc="-10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ponto único</a:t>
            </a:r>
          </a:p>
          <a:p xmlns:a="http://schemas.openxmlformats.org/drawingml/2006/main">
            <a:pPr algn="ctr">
              <a:lnSpc>
                <a:spcPts val="2661"/>
              </a:lnSpc>
              <a:buNone/>
            </a:pPr>
            <a:r>
              <a:rPr sz="2047" spc="-10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de entrada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2670C41-84A6-4F6F-917E-A8483BEA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1497682"/>
            <a:ext cx="2843828" cy="2579949"/>
          </a:xfrm>
          <a:custGeom xmlns:a="http://schemas.openxmlformats.org/drawingml/2006/main"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18977b5990453d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1CA9D46-4135-401D-B1F2-62F7FBB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827" y="2242884"/>
            <a:ext cx="2775747" cy="6068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26"/>
              </a:lnSpc>
              <a:buNone/>
            </a:pPr>
            <a:r>
              <a:rPr sz="2021" b="1" spc="-50">
                <a:solidFill>
                  <a:srgbClr val="E07BB0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Serviço de Autenticação/Usuários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7BA1150-A9E3-4DF1-974F-5C9D045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3932" y="3336516"/>
            <a:ext cx="2245536" cy="2887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90"/>
              </a:lnSpc>
              <a:buNone/>
            </a:pPr>
            <a:r>
              <a:rPr sz="1916" spc="-95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login, cadastro, token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1DE4A65-9498-48C0-AB5E-D3B90018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7196" y="2569017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9abaa1c16c43b0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07E0B40-8E7F-452D-A8C3-1477B85F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2569017"/>
            <a:ext cx="448450" cy="1934962"/>
          </a:xfrm>
          <a:custGeom xmlns:a="http://schemas.openxmlformats.org/drawingml/2006/main">
            <a:rect l="l" t="t" r="r" b="b"/>
            <a:pathLst>
              <a:path w="448450" h="1934962">
                <a:moveTo>
                  <a:pt x="0" y="0"/>
                </a:moveTo>
                <a:lnTo>
                  <a:pt x="448450" y="0"/>
                </a:lnTo>
                <a:lnTo>
                  <a:pt x="44845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b51160368f74356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24AE187-A0E0-4831-B152-CB0E22C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7196" y="4285339"/>
            <a:ext cx="667206" cy="1934962"/>
          </a:xfrm>
          <a:custGeom xmlns:a="http://schemas.openxmlformats.org/drawingml/2006/main">
            <a:rect l="l" t="t" r="r" b="b"/>
            <a:pathLst>
              <a:path w="667206" h="1934962">
                <a:moveTo>
                  <a:pt x="0" y="0"/>
                </a:moveTo>
                <a:lnTo>
                  <a:pt x="667206" y="0"/>
                </a:lnTo>
                <a:lnTo>
                  <a:pt x="66720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fc2bc6d05f42b2"/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0818698-A557-41F7-8CD0-A53A657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4711687"/>
            <a:ext cx="2843828" cy="2361309"/>
          </a:xfrm>
          <a:custGeom xmlns:a="http://schemas.openxmlformats.org/drawingml/2006/main">
            <a:rect l="l" t="t" r="r" b="b"/>
            <a:pathLst>
              <a:path w="2843828" h="2361309">
                <a:moveTo>
                  <a:pt x="0" y="0"/>
                </a:moveTo>
                <a:lnTo>
                  <a:pt x="2843828" y="0"/>
                </a:lnTo>
                <a:lnTo>
                  <a:pt x="284382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736aaec3394fc9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A22E52F-28E1-4AA4-9226-050C882D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8708" y="5274027"/>
            <a:ext cx="1755985" cy="82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12"/>
              </a:lnSpc>
              <a:buNone/>
            </a:pPr>
            <a:r>
              <a:rPr sz="2759" b="1" spc="-68">
                <a:solidFill>
                  <a:srgbClr val="A979C2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Serviço de Produtos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6F5FBE2-EACD-487B-A753-01A20D4F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7815" y="6288441"/>
            <a:ext cx="1957772" cy="2887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90"/>
              </a:lnSpc>
              <a:buNone/>
            </a:pPr>
            <a:r>
              <a:rPr sz="1916" spc="-95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CRUD do catálogo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4290781-60CE-4D8C-A31D-2D42ACF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73866" y="1705390"/>
            <a:ext cx="1968804" cy="2153601"/>
          </a:xfrm>
          <a:custGeom xmlns:a="http://schemas.openxmlformats.org/drawingml/2006/main"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5d4a66f7c3b4c0c"/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5694723-F412-4F3D-BB7E-E5DCE6EE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2112" y="2604220"/>
            <a:ext cx="1552431" cy="635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61"/>
              </a:lnSpc>
              <a:buNone/>
            </a:pPr>
            <a:r>
              <a:rPr sz="2047" spc="-10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Banco de</a:t>
            </a:r>
          </a:p>
          <a:p xmlns:a="http://schemas.openxmlformats.org/drawingml/2006/main">
            <a:pPr algn="ctr">
              <a:lnSpc>
                <a:spcPts val="2661"/>
              </a:lnSpc>
              <a:buNone/>
            </a:pPr>
            <a:r>
              <a:rPr sz="2047" spc="-10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dados próprio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C8929C9-DC52-408C-8A0E-E7F89C7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17598" y="2569017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4c39df2bb344b1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23A2771-F842-47FE-9779-F37795C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73866" y="4711687"/>
            <a:ext cx="1968804" cy="2361309"/>
          </a:xfrm>
          <a:custGeom xmlns:a="http://schemas.openxmlformats.org/drawingml/2006/main">
            <a:rect l="l" t="t" r="r" b="b"/>
            <a:pathLst>
              <a:path w="1968804" h="2361309">
                <a:moveTo>
                  <a:pt x="0" y="0"/>
                </a:moveTo>
                <a:lnTo>
                  <a:pt x="1968804" y="0"/>
                </a:lnTo>
                <a:lnTo>
                  <a:pt x="196880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c2784c13ed4048"/>
            <a:stretch>
              <a:fillRect l="0" t="0" r="0" b="0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6075AB5-CF42-44CC-B7E1-31106B2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2112" y="5766997"/>
            <a:ext cx="1552431" cy="635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61"/>
              </a:lnSpc>
              <a:buNone/>
            </a:pPr>
            <a:r>
              <a:rPr sz="2047" spc="-10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Banco de</a:t>
            </a:r>
          </a:p>
          <a:p xmlns:a="http://schemas.openxmlformats.org/drawingml/2006/main">
            <a:pPr algn="ctr">
              <a:lnSpc>
                <a:spcPts val="2661"/>
              </a:lnSpc>
              <a:buNone/>
            </a:pPr>
            <a:r>
              <a:rPr sz="2047" spc="-10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dados próprio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985244F-330B-4903-86B9-E782804A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17598" y="5564382"/>
            <a:ext cx="667206" cy="655919"/>
          </a:xfrm>
          <a:custGeom xmlns:a="http://schemas.openxmlformats.org/drawingml/2006/main"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e4109aba754a41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691413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36FA62D-6C4F-47ED-945F-4B42DF4B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48f3ad8c8c451f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A6B7697-FA59-4EC6-BB6E-7F0B62FD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8976" y="2350377"/>
            <a:ext cx="8498670" cy="6657580"/>
          </a:xfrm>
          <a:custGeom xmlns:a="http://schemas.openxmlformats.org/drawingml/2006/main">
            <a:rect l="l" t="t" r="r" b="b"/>
            <a:pathLst>
              <a:path w="8498670" h="6657580">
                <a:moveTo>
                  <a:pt x="0" y="0"/>
                </a:moveTo>
                <a:lnTo>
                  <a:pt x="8498670" y="0"/>
                </a:lnTo>
                <a:lnTo>
                  <a:pt x="8498670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13f603b927478d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8B8F1E8-3AF4-4871-9145-05D60B2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92622" y="6635716"/>
            <a:ext cx="2395378" cy="2798589"/>
          </a:xfrm>
          <a:custGeom xmlns:a="http://schemas.openxmlformats.org/drawingml/2006/main">
            <a:rect l="l" t="t" r="r" b="b"/>
            <a:pathLst>
              <a:path w="2395378" h="2798589">
                <a:moveTo>
                  <a:pt x="0" y="0"/>
                </a:moveTo>
                <a:lnTo>
                  <a:pt x="2395378" y="0"/>
                </a:lnTo>
                <a:lnTo>
                  <a:pt x="239537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57e3e538d4d4a9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D0C8E31-6724-42DA-A85A-B805F42F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8352038"/>
            <a:ext cx="7186134" cy="1934962"/>
          </a:xfrm>
          <a:custGeom xmlns:a="http://schemas.openxmlformats.org/drawingml/2006/main">
            <a:rect l="l" t="t" r="r" b="b"/>
            <a:pathLst>
              <a:path w="7186134" h="1934962">
                <a:moveTo>
                  <a:pt x="0" y="0"/>
                </a:moveTo>
                <a:lnTo>
                  <a:pt x="7186134" y="0"/>
                </a:lnTo>
                <a:lnTo>
                  <a:pt x="718613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53a5ea87394325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D7DA7E4-291D-4D8F-A929-40F4E1F7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8997026"/>
            <a:ext cx="4364182" cy="1082267"/>
          </a:xfrm>
          <a:custGeom xmlns:a="http://schemas.openxmlformats.org/drawingml/2006/main">
            <a:rect l="l" t="t" r="r" b="b"/>
            <a:pathLst>
              <a:path w="4364182" h="1082267">
                <a:moveTo>
                  <a:pt x="0" y="0"/>
                </a:moveTo>
                <a:lnTo>
                  <a:pt x="4364182" y="0"/>
                </a:lnTo>
                <a:lnTo>
                  <a:pt x="4364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e606164e4a45f3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789AB1F-6789-48A5-AD7D-E0C48539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629" y="919848"/>
            <a:ext cx="8650127" cy="797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8"/>
              </a:lnSpc>
              <a:buNone/>
            </a:pPr>
            <a:r>
              <a:rPr sz="6008" b="1" spc="-58">
                <a:solidFill>
                  <a:srgbClr val="F1F1F1"/>
                </a:solidFill>
                <a:latin typeface="DM Sans Bold"/>
                <a:ea typeface="DM Sans Bold"/>
                <a:cs typeface="DM Sans Bold"/>
              </a:rPr>
              <a:t>Como funciona o </a:t>
            </a:r>
            <a:r>
              <a:rPr sz="6008" b="1" spc="-58">
                <a:solidFill>
                  <a:srgbClr val="D16095"/>
                </a:solidFill>
                <a:latin typeface="DM Sans Bold"/>
                <a:ea typeface="DM Sans Bold"/>
                <a:cs typeface="DM Sans Bold"/>
              </a:rPr>
              <a:t>M</a:t>
            </a:r>
            <a:r>
              <a:rPr sz="6008" b="1" spc="-58">
                <a:solidFill>
                  <a:srgbClr val="A667A7"/>
                </a:solidFill>
                <a:latin typeface="DM Sans Bold"/>
                <a:ea typeface="DM Sans Bold"/>
                <a:cs typeface="DM Sans Bold"/>
              </a:rPr>
              <a:t>V</a:t>
            </a:r>
            <a:r>
              <a:rPr sz="6008" b="1" spc="-58">
                <a:solidFill>
                  <a:srgbClr val="4F81CA"/>
                </a:solidFill>
                <a:latin typeface="DM Sans Bold"/>
                <a:ea typeface="DM Sans Bold"/>
                <a:cs typeface="DM Sans Bold"/>
              </a:rPr>
              <a:t>P</a:t>
            </a:r>
            <a:r>
              <a:rPr sz="6008" b="1" spc="-58">
                <a:solidFill>
                  <a:srgbClr val="F1F1F1"/>
                </a:solidFill>
                <a:latin typeface="DM Sans Bold"/>
                <a:ea typeface="DM Sans Bold"/>
                <a:cs typeface="DM Sans Bold"/>
              </a:rPr>
              <a:t> 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4DCA14A-C4BD-4681-AA74-10118987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717" y="2027363"/>
            <a:ext cx="7616600" cy="1710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721"/>
              </a:lnSpc>
              <a:buNone/>
            </a:pPr>
            <a:r>
              <a:rPr sz="2623" spc="-25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Serviços </a:t>
            </a:r>
            <a:r>
              <a:rPr sz="2623" b="1" spc="-25">
                <a:solidFill>
                  <a:srgbClr val="A667A7"/>
                </a:solidFill>
                <a:latin typeface="DM Sans Bold"/>
                <a:ea typeface="DM Sans Bold"/>
                <a:cs typeface="DM Sans Bold"/>
              </a:rPr>
              <a:t>independentes</a:t>
            </a:r>
            <a:r>
              <a:rPr sz="2623" spc="-25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 em ambientes isolados</a:t>
            </a:r>
          </a:p>
          <a:p xmlns:a="http://schemas.openxmlformats.org/drawingml/2006/main">
            <a:pPr algn="l">
              <a:lnSpc>
                <a:spcPts val="4721"/>
              </a:lnSpc>
              <a:buNone/>
            </a:pPr>
            <a:r>
              <a:rPr sz="2623" spc="-25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Comunicação centralizada via </a:t>
            </a:r>
            <a:r>
              <a:rPr sz="2623" b="1" spc="-25">
                <a:solidFill>
                  <a:srgbClr val="D16095"/>
                </a:solidFill>
                <a:latin typeface="DM Sans Bold"/>
                <a:ea typeface="DM Sans Bold"/>
                <a:cs typeface="DM Sans Bold"/>
              </a:rPr>
              <a:t>API Gateway</a:t>
            </a:r>
          </a:p>
          <a:p xmlns:a="http://schemas.openxmlformats.org/drawingml/2006/main">
            <a:pPr algn="l">
              <a:lnSpc>
                <a:spcPts val="4721"/>
              </a:lnSpc>
              <a:buNone/>
            </a:pPr>
            <a:r>
              <a:rPr sz="2623" spc="-25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Endpoints </a:t>
            </a:r>
            <a:r>
              <a:rPr sz="2623" b="1" spc="-25">
                <a:solidFill>
                  <a:srgbClr val="A667A7"/>
                </a:solidFill>
                <a:latin typeface="DM Sans Bold"/>
                <a:ea typeface="DM Sans Bold"/>
                <a:cs typeface="DM Sans Bold"/>
              </a:rPr>
              <a:t>implementados</a:t>
            </a:r>
            <a:r>
              <a:rPr sz="2623" spc="-25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 e </a:t>
            </a:r>
            <a:r>
              <a:rPr sz="2623" b="1" spc="-25">
                <a:solidFill>
                  <a:srgbClr val="4F81CA"/>
                </a:solidFill>
                <a:latin typeface="DM Sans Bold"/>
                <a:ea typeface="DM Sans Bold"/>
                <a:cs typeface="DM Sans Bold"/>
              </a:rPr>
              <a:t>testados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5985282-B247-4E11-9532-F99EB1E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3848060"/>
            <a:ext cx="3500096" cy="2590881"/>
          </a:xfrm>
          <a:custGeom xmlns:a="http://schemas.openxmlformats.org/drawingml/2006/main">
            <a:rect l="l" t="t" r="r" b="b"/>
            <a:pathLst>
              <a:path w="3500096" h="2590881">
                <a:moveTo>
                  <a:pt x="0" y="0"/>
                </a:moveTo>
                <a:lnTo>
                  <a:pt x="3500096" y="0"/>
                </a:lnTo>
                <a:lnTo>
                  <a:pt x="3500096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ccc2e9b9e434c"/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2BD9F1-FEE6-416C-B99B-EA5C01EA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258" y="4637301"/>
            <a:ext cx="1035167" cy="142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cadastrar</a:t>
            </a:r>
          </a:p>
          <a:p xmlns:a="http://schemas.openxmlformats.org/drawingml/2006/main">
            <a:pPr algn="l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listar</a:t>
            </a:r>
          </a:p>
          <a:p xmlns:a="http://schemas.openxmlformats.org/drawingml/2006/main">
            <a:pPr algn="l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buscar</a:t>
            </a:r>
          </a:p>
          <a:p xmlns:a="http://schemas.openxmlformats.org/drawingml/2006/main">
            <a:pPr algn="l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editar</a:t>
            </a:r>
          </a:p>
          <a:p xmlns:a="http://schemas.openxmlformats.org/drawingml/2006/main">
            <a:pPr algn="l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remover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248A3D1-E6DC-4568-95A8-1D0747B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3848060"/>
            <a:ext cx="3489158" cy="2590881"/>
          </a:xfrm>
          <a:custGeom xmlns:a="http://schemas.openxmlformats.org/drawingml/2006/main">
            <a:rect l="l" t="t" r="r" b="b"/>
            <a:pathLst>
              <a:path w="3489158" h="2590881">
                <a:moveTo>
                  <a:pt x="0" y="0"/>
                </a:moveTo>
                <a:lnTo>
                  <a:pt x="3489158" y="0"/>
                </a:lnTo>
                <a:lnTo>
                  <a:pt x="3489158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e963d9b8ba40a9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14ECDFE-6678-4DA4-A26E-FA8FBCC9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811" y="4641632"/>
            <a:ext cx="1868879" cy="1147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11"/>
              </a:lnSpc>
              <a:buNone/>
            </a:pPr>
            <a:r>
              <a:rPr sz="1784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cadastr o</a:t>
            </a:r>
          </a:p>
          <a:p xmlns:a="http://schemas.openxmlformats.org/drawingml/2006/main">
            <a:pPr algn="l">
              <a:lnSpc>
                <a:spcPts val="3211"/>
              </a:lnSpc>
              <a:buNone/>
            </a:pPr>
            <a:r>
              <a:rPr sz="1784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login</a:t>
            </a:r>
          </a:p>
          <a:p xmlns:a="http://schemas.openxmlformats.org/drawingml/2006/main">
            <a:pPr algn="l">
              <a:lnSpc>
                <a:spcPts val="3211"/>
              </a:lnSpc>
              <a:buNone/>
            </a:pPr>
            <a:r>
              <a:rPr sz="1784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emissão de token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483448D-EBCA-43EA-98CE-4CC119CF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1952" y="6635716"/>
            <a:ext cx="3062584" cy="1082267"/>
          </a:xfrm>
          <a:custGeom xmlns:a="http://schemas.openxmlformats.org/drawingml/2006/main">
            <a:rect l="l" t="t" r="r" b="b"/>
            <a:pathLst>
              <a:path w="3062584" h="1082267">
                <a:moveTo>
                  <a:pt x="0" y="0"/>
                </a:moveTo>
                <a:lnTo>
                  <a:pt x="3062584" y="0"/>
                </a:lnTo>
                <a:lnTo>
                  <a:pt x="306258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b5b0a7e0394907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5061A9-703D-4F77-809D-A029E086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268" y="6977314"/>
            <a:ext cx="2034471" cy="40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47"/>
              </a:lnSpc>
              <a:buNone/>
            </a:pPr>
            <a:r>
              <a:rPr sz="2575" b="1" spc="-25">
                <a:solidFill>
                  <a:srgbClr val="F1F1F1"/>
                </a:solidFill>
                <a:latin typeface="DM Sans Bold"/>
                <a:ea typeface="DM Sans Bold"/>
                <a:cs typeface="DM Sans Bold"/>
              </a:rPr>
              <a:t>API Gateway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9B0E10F-B029-4953-B676-3C5C1190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6209369"/>
            <a:ext cx="6322048" cy="2153601"/>
          </a:xfrm>
          <a:custGeom xmlns:a="http://schemas.openxmlformats.org/drawingml/2006/main">
            <a:rect l="l" t="t" r="r" b="b"/>
            <a:pathLst>
              <a:path w="6322048" h="2153601">
                <a:moveTo>
                  <a:pt x="0" y="0"/>
                </a:moveTo>
                <a:lnTo>
                  <a:pt x="6322048" y="0"/>
                </a:lnTo>
                <a:lnTo>
                  <a:pt x="6322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01ac803451496b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E7DDD81-4EFB-4EC8-9288-01BA01BC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352038"/>
            <a:ext cx="1968804" cy="1300906"/>
          </a:xfrm>
          <a:custGeom xmlns:a="http://schemas.openxmlformats.org/drawingml/2006/main"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90fc79c7d44a85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CA77880-D62F-423D-B3D3-7B5BCAB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040" y="8643485"/>
            <a:ext cx="984856" cy="567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Serviço Produtos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A44ABC3-3740-417B-B76C-D76BB0A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440" y="8352038"/>
            <a:ext cx="1979742" cy="1300906"/>
          </a:xfrm>
          <a:custGeom xmlns:a="http://schemas.openxmlformats.org/drawingml/2006/main">
            <a:rect l="l" t="t" r="r" b="b"/>
            <a:pathLst>
              <a:path w="1979742" h="1300906">
                <a:moveTo>
                  <a:pt x="0" y="0"/>
                </a:moveTo>
                <a:lnTo>
                  <a:pt x="1979742" y="0"/>
                </a:lnTo>
                <a:lnTo>
                  <a:pt x="197974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6c29416d314b51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51340E8-0C37-4E63-8C4B-C54E3537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2407" y="8643485"/>
            <a:ext cx="1449773" cy="567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Serviço Autenticação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4E7E582-072A-4BE5-8B41-437198D1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8352038"/>
            <a:ext cx="1968804" cy="1300906"/>
          </a:xfrm>
          <a:custGeom xmlns:a="http://schemas.openxmlformats.org/drawingml/2006/main"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ca99effc7c745de"/>
            <a:stretch>
              <a:fillRect l="0" t="0" r="0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BF8FE22-4EB0-4953-A26F-75FB278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0189" y="8643485"/>
            <a:ext cx="917926" cy="567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Outros Serviços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4F30D97-FCD0-43C9-A29D-DC3CF36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11110" y="8352038"/>
            <a:ext cx="1968804" cy="1300906"/>
          </a:xfrm>
          <a:custGeom xmlns:a="http://schemas.openxmlformats.org/drawingml/2006/main"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1f0efab46741c8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6AA8FD0-8FFA-4CD7-A8F7-5642415B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8338" y="8643485"/>
            <a:ext cx="1341052" cy="567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53"/>
              </a:lnSpc>
              <a:buNone/>
            </a:pPr>
            <a:r>
              <a:rPr sz="1810" spc="-17">
                <a:solidFill>
                  <a:srgbClr val="F1F1F1"/>
                </a:solidFill>
                <a:latin typeface="DM Sans"/>
                <a:ea typeface="DM Sans"/>
                <a:cs typeface="DM Sans"/>
              </a:rPr>
              <a:t>Serviço Pagamentos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154EB18-29CC-4A55-9AFD-6A21A6F1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3560" y="4230656"/>
            <a:ext cx="1994014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 spc="-22">
                <a:solidFill>
                  <a:srgbClr val="4F81CA"/>
                </a:solidFill>
                <a:latin typeface="DM Sans Bold"/>
                <a:ea typeface="DM Sans Bold"/>
                <a:cs typeface="DM Sans Bold"/>
              </a:rPr>
              <a:t>Autenticação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F9C0633-AB61-4094-9A24-829B5F68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218" y="4230656"/>
            <a:ext cx="1339107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 spc="-22">
                <a:solidFill>
                  <a:srgbClr val="D16095"/>
                </a:solidFill>
                <a:latin typeface="DM Sans Bold"/>
                <a:ea typeface="DM Sans Bold"/>
                <a:cs typeface="DM Sans Bold"/>
              </a:rPr>
              <a:t>Produtos</a:t>
            </a:r>
          </a:p>
        </p:txBody>
      </p:sp>
    </p:spTree>
    <p:extLst>
      <p:ext uri="{BB962C8B-B14F-4D97-AF65-F5344CB8AC3E}">
        <p14:creationId xmlns:p14="http://schemas.microsoft.com/office/powerpoint/2010/main" val="3836520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D1C0633-1339-4E1F-B31C-C78CDB4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470abd1974eaf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775A8E8-A6A8-4B86-9D6A-D307EAF7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085" y="865182"/>
            <a:ext cx="13473934" cy="939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356"/>
              </a:lnSpc>
              <a:buNone/>
            </a:pPr>
            <a:r>
              <a:rPr sz="6395" b="1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Tecnologias e decisões técnicas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335C637-4D30-46A8-A63B-C2866F28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475" y="1805072"/>
            <a:ext cx="9713155" cy="3554191"/>
          </a:xfrm>
          <a:custGeom xmlns:a="http://schemas.openxmlformats.org/drawingml/2006/main">
            <a:rect l="l" t="t" r="r" b="b"/>
            <a:pathLst>
              <a:path w="9713155" h="3554191">
                <a:moveTo>
                  <a:pt x="0" y="0"/>
                </a:moveTo>
                <a:lnTo>
                  <a:pt x="9713155" y="0"/>
                </a:lnTo>
                <a:lnTo>
                  <a:pt x="9713155" y="3554192"/>
                </a:lnTo>
                <a:lnTo>
                  <a:pt x="0" y="35541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5f9d110b394fd7"/>
            <a:stretch>
              <a:fillRect l="0" t="-4733" r="0" b="-13616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C7EC13E-4D11-41F3-9961-885437B2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07" y="2041584"/>
            <a:ext cx="4245184" cy="3910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74"/>
              </a:lnSpc>
              <a:buNone/>
            </a:pPr>
            <a:r>
              <a:rPr sz="2759" b="1">
                <a:solidFill>
                  <a:srgbClr val="E06BA8"/>
                </a:solidFill>
                <a:latin typeface="DM Sans Bold"/>
                <a:ea typeface="DM Sans Bold"/>
                <a:cs typeface="DM Sans Bold"/>
              </a:rPr>
              <a:t>Tecnologias utilizadas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4F8F034-146D-4C3E-80D6-EEAB9165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707" y="2575485"/>
            <a:ext cx="6465186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Node.js / Python —</a:t>
            </a: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linguagem do módulo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E62BDBF-3AFC-4791-BBB3-D865A168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400" y="3101524"/>
            <a:ext cx="7695885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Docker —</a:t>
            </a: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isolamento dos serviços em containers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A3B9F7E-C3E8-4433-BA34-EACD35F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077" y="3637089"/>
            <a:ext cx="6328107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Terraform —</a:t>
            </a: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infraestrutura como código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C9F7A03-545F-4671-8554-07AB2B22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520" y="4191703"/>
            <a:ext cx="5483845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Ansible —</a:t>
            </a: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automação do ambiente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A568C5-DE7B-40CB-82C3-8F188C3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2" y="4794534"/>
            <a:ext cx="6851623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 b="1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Git/GitHub —</a:t>
            </a: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versionamento e colaboração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E209761-88F7-4559-9A34-282DC45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475" y="5359264"/>
            <a:ext cx="9713155" cy="3079092"/>
          </a:xfrm>
          <a:custGeom xmlns:a="http://schemas.openxmlformats.org/drawingml/2006/main">
            <a:rect l="l" t="t" r="r" b="b"/>
            <a:pathLst>
              <a:path w="9713155" h="3079092">
                <a:moveTo>
                  <a:pt x="0" y="0"/>
                </a:moveTo>
                <a:lnTo>
                  <a:pt x="9713155" y="0"/>
                </a:lnTo>
                <a:lnTo>
                  <a:pt x="9713155" y="3079092"/>
                </a:lnTo>
                <a:lnTo>
                  <a:pt x="0" y="30790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11d25d20e84be9"/>
            <a:stretch>
              <a:fillRect l="-2445" t="0" r="-2445" b="-19411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72F0C6C-B70F-47D9-AE5D-8134E15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606" y="5858684"/>
            <a:ext cx="6875211" cy="3910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74"/>
              </a:lnSpc>
              <a:buNone/>
            </a:pPr>
            <a:r>
              <a:rPr sz="2759" b="1">
                <a:solidFill>
                  <a:srgbClr val="5B98E4"/>
                </a:solidFill>
                <a:latin typeface="DM Sans Bold"/>
                <a:ea typeface="DM Sans Bold"/>
                <a:cs typeface="DM Sans Bold"/>
              </a:rPr>
              <a:t>Foco na simplicidade com propósito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D9B6600-5717-4C7E-9369-9E3891D6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729" y="6459260"/>
            <a:ext cx="7162984" cy="738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Dois serviços são suficientes para demonstrar</a:t>
            </a:r>
          </a:p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independência entre partes.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2479002-FEB6-46C6-9AD7-35109FF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458" y="7407772"/>
            <a:ext cx="6690077" cy="738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Esta escolha evita complexidade excessiva</a:t>
            </a:r>
          </a:p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e respeita o prazo do projeto.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7B460E0-51BE-4796-9814-024E078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475" y="8438356"/>
            <a:ext cx="9713155" cy="1710730"/>
          </a:xfrm>
          <a:custGeom xmlns:a="http://schemas.openxmlformats.org/drawingml/2006/main">
            <a:rect l="l" t="t" r="r" b="b"/>
            <a:pathLst>
              <a:path w="9713155" h="1710730">
                <a:moveTo>
                  <a:pt x="0" y="0"/>
                </a:moveTo>
                <a:lnTo>
                  <a:pt x="9713155" y="0"/>
                </a:lnTo>
                <a:lnTo>
                  <a:pt x="9713155" y="1710730"/>
                </a:lnTo>
                <a:lnTo>
                  <a:pt x="0" y="171073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11d25d20e84be9"/>
            <a:stretch>
              <a:fillRect l="-2445" t="-20944" r="-2445" b="-93981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FB79995-90A0-49B5-815C-0C8292A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606" y="8579478"/>
            <a:ext cx="6875211" cy="3910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74"/>
              </a:lnSpc>
              <a:buNone/>
            </a:pPr>
            <a:r>
              <a:rPr sz="2759" b="1">
                <a:solidFill>
                  <a:srgbClr val="E07BB0"/>
                </a:solidFill>
                <a:latin typeface="DM Sans Bold"/>
                <a:ea typeface="DM Sans Bold"/>
                <a:cs typeface="DM Sans Bold"/>
              </a:rPr>
              <a:t>Porque dois bancos separados?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8C5761F-2447-464D-B8F2-0A95723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729" y="9180054"/>
            <a:ext cx="7162984" cy="364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55"/>
              </a:lnSpc>
              <a:buNone/>
            </a:pPr>
            <a:r>
              <a:rPr sz="235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Reforça a Independencia real entre os serviços</a:t>
            </a:r>
          </a:p>
        </p:txBody>
      </p:sp>
    </p:spTree>
    <p:extLst>
      <p:ext uri="{BB962C8B-B14F-4D97-AF65-F5344CB8AC3E}">
        <p14:creationId xmlns:p14="http://schemas.microsoft.com/office/powerpoint/2010/main" val="1618375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EFE01EF-5F2A-4DD7-8CB0-B095522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d262549059487a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472A508-1E44-472D-92D6-2BA39BED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414402" cy="10287000"/>
          </a:xfrm>
          <a:custGeom xmlns:a="http://schemas.openxmlformats.org/drawingml/2006/main">
            <a:rect l="l" t="t" r="r" b="b"/>
            <a:pathLst>
              <a:path w="12414402" h="10287000">
                <a:moveTo>
                  <a:pt x="0" y="0"/>
                </a:moveTo>
                <a:lnTo>
                  <a:pt x="12414402" y="0"/>
                </a:lnTo>
                <a:lnTo>
                  <a:pt x="12414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bd8990a6249ea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7D8C9D5-51FD-4746-BF1D-CAEEF9EE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236" y="1318419"/>
            <a:ext cx="5838113" cy="1146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644"/>
              </a:lnSpc>
              <a:buNone/>
            </a:pPr>
            <a:r>
              <a:rPr sz="8644" b="1" spc="-84">
                <a:solidFill>
                  <a:srgbClr val="F6F6F6"/>
                </a:solidFill>
                <a:latin typeface="DM Sans Bold"/>
                <a:ea typeface="DM Sans Bold"/>
                <a:cs typeface="DM Sans Bold"/>
              </a:rPr>
              <a:t>Resultados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67F92FF-6FB3-48BD-BFF2-12C039C7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982" y="2533857"/>
            <a:ext cx="3963511" cy="1125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514"/>
              </a:lnSpc>
              <a:buNone/>
            </a:pPr>
            <a:r>
              <a:rPr sz="8514" b="1" spc="-83">
                <a:gradFill>
                  <a:gsLst>
                    <a:gs pos="0">
                      <a:srgbClr val="D86AA5">
                        <a:alpha val="100000"/>
                      </a:srgbClr>
                    </a:gs>
                    <a:gs pos="100000">
                      <a:srgbClr val="A778C2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</a:rPr>
              <a:t>obtidos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46F37C2-5237-496A-82B1-720598C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4066699"/>
            <a:ext cx="229694" cy="863627"/>
          </a:xfrm>
          <a:custGeom xmlns:a="http://schemas.openxmlformats.org/drawingml/2006/main"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79949bfc9848d9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E633D13-3885-49DE-A3A4-09AE0732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61" y="4283609"/>
            <a:ext cx="7397009" cy="414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81"/>
              </a:lnSpc>
              <a:buNone/>
            </a:pPr>
            <a:r>
              <a:rPr sz="2601" spc="-25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Dois serviços operando de forma </a:t>
            </a:r>
            <a:r>
              <a:rPr sz="2601" b="1" spc="-25">
                <a:solidFill>
                  <a:srgbClr val="D86AA5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independente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05617F5-1988-4C7A-96D6-EA092471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4784773"/>
            <a:ext cx="8061158" cy="229572"/>
          </a:xfrm>
          <a:custGeom xmlns:a="http://schemas.openxmlformats.org/drawingml/2006/main">
            <a:rect l="l" t="t" r="r" b="b"/>
            <a:pathLst>
              <a:path w="8061158" h="229572">
                <a:moveTo>
                  <a:pt x="0" y="0"/>
                </a:moveTo>
                <a:lnTo>
                  <a:pt x="8061158" y="0"/>
                </a:lnTo>
                <a:lnTo>
                  <a:pt x="806115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fe080a2a234160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DC85B04-37EA-4D5A-BDBE-D335156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4995294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3f3d0dfb144d33"/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4C243C-CD43-4A3F-BFD6-3C14A88E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422" y="5140962"/>
            <a:ext cx="5460958" cy="817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Possibilidade de </a:t>
            </a:r>
            <a:r>
              <a:rPr sz="2548" b="1" spc="-24">
                <a:solidFill>
                  <a:srgbClr val="A778C2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reiniciar</a:t>
            </a: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um serviço</a:t>
            </a:r>
          </a:p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sem derrubar o outro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C0FCD5B-74DA-40F2-A909-D168C61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7447460"/>
            <a:ext cx="8061158" cy="218640"/>
          </a:xfrm>
          <a:custGeom xmlns:a="http://schemas.openxmlformats.org/drawingml/2006/main">
            <a:rect l="l" t="t" r="r" b="b"/>
            <a:pathLst>
              <a:path w="8061158" h="218640">
                <a:moveTo>
                  <a:pt x="0" y="0"/>
                </a:moveTo>
                <a:lnTo>
                  <a:pt x="8061158" y="0"/>
                </a:lnTo>
                <a:lnTo>
                  <a:pt x="806115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89a2bc969a4611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C550878-50B3-4FE5-9A14-B1F5B311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7499630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57ef97bc7c4753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FD6A81C-B460-442F-9748-4F63DD75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79" y="7745030"/>
            <a:ext cx="4325270" cy="817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Todos endpoints do contrato</a:t>
            </a:r>
          </a:p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548" b="1" spc="-24">
                <a:solidFill>
                  <a:srgbClr val="D86AA5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implementados</a:t>
            </a: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 e </a:t>
            </a:r>
            <a:r>
              <a:rPr sz="2548" b="1" spc="-24">
                <a:solidFill>
                  <a:srgbClr val="6087C6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testados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3269080-A3E6-4777-AE76-B59C18D3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724337"/>
            <a:ext cx="8061158" cy="218640"/>
          </a:xfrm>
          <a:custGeom xmlns:a="http://schemas.openxmlformats.org/drawingml/2006/main">
            <a:rect l="l" t="t" r="r" b="b"/>
            <a:pathLst>
              <a:path w="8061158" h="218640">
                <a:moveTo>
                  <a:pt x="0" y="0"/>
                </a:moveTo>
                <a:lnTo>
                  <a:pt x="8061158" y="0"/>
                </a:lnTo>
                <a:lnTo>
                  <a:pt x="806115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0849e6b6914e69"/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9A885A8-FAFF-4E3C-91BC-FC7FCE60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923926"/>
            <a:ext cx="229694" cy="655919"/>
          </a:xfrm>
          <a:custGeom xmlns:a="http://schemas.openxmlformats.org/drawingml/2006/main"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20"/>
                </a:lnTo>
                <a:lnTo>
                  <a:pt x="0" y="6559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7a356abf324e60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CD5A75-6331-4EFF-89C1-FA9C3123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766" y="9089154"/>
            <a:ext cx="7026483" cy="414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81"/>
              </a:lnSpc>
              <a:buNone/>
            </a:pPr>
            <a:r>
              <a:rPr sz="2601" spc="-25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Estabilidade comprovada e </a:t>
            </a:r>
            <a:r>
              <a:rPr sz="2601" b="1" spc="-25">
                <a:solidFill>
                  <a:srgbClr val="D86AA5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metas </a:t>
            </a:r>
            <a:r>
              <a:rPr sz="2601" b="1" spc="-25">
                <a:solidFill>
                  <a:srgbClr val="A778C2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cumpridas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D35D043-3924-439B-A560-3D402B7A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711" y="622729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3f3d0dfb144d33"/>
            <a:stretch>
              <a:fillRect l="0" t="0" r="0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2CA906D-9305-4BD2-8374-CB5BB71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79" y="6391451"/>
            <a:ext cx="6346707" cy="834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Cada serviço com seu próprio banco de dados, sem </a:t>
            </a:r>
            <a:r>
              <a:rPr sz="2548" b="1" spc="-24">
                <a:solidFill>
                  <a:srgbClr val="5B7DDD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dependência</a:t>
            </a:r>
            <a:r>
              <a:rPr sz="2548" b="1" spc="-24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 </a:t>
            </a:r>
            <a:r>
              <a:rPr sz="2548" spc="-2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entre eles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E0BBCDA-DF3C-4EAA-8729-4528401B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6077561"/>
            <a:ext cx="8061158" cy="218640"/>
          </a:xfrm>
          <a:custGeom xmlns:a="http://schemas.openxmlformats.org/drawingml/2006/main">
            <a:rect l="l" t="t" r="r" b="b"/>
            <a:pathLst>
              <a:path w="8061158" h="218640">
                <a:moveTo>
                  <a:pt x="0" y="0"/>
                </a:moveTo>
                <a:lnTo>
                  <a:pt x="8061158" y="0"/>
                </a:lnTo>
                <a:lnTo>
                  <a:pt x="806115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89a2bc969a4611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7044808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D1F32-D81A-4FD1-8450-9C37B2F7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C"/>
          </a:solidFill>
          <a:ln xmlns:a="http://schemas.openxmlformats.org/drawingml/2006/main" w="0">
            <a:solidFill>
              <a:srgbClr val="070B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4AD0E-46F5-45DA-B45F-2CE084A3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5775"/>
            <a:ext cx="1671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Evidências de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7D9F6-CA47-428A-BA8C-1C7D0AB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14475"/>
            <a:ext cx="2143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A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7888C-E477-437C-84A8-5A903E1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85925"/>
            <a:ext cx="1657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A fase final reuniu testes funcionais, integração e provisionamento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98AB3-FB41-4F8E-BA8E-2B89C76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8938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AF794-13CD-48A9-827A-4BA8925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3214688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F05AAE"/>
                </a:solidFill>
                <a:latin typeface="Aptos"/>
                <a:ea typeface="Aptos"/>
                <a:cs typeface="Aptos"/>
              </a:defRPr>
            </a:pPr>
            <a:r>
              <a:rPr sz="6525" b="1">
                <a:solidFill>
                  <a:srgbClr val="F05A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8E899-93D4-4679-80A0-7A9755D2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4714875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requisições no Postman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10B26-1F9E-42FC-8901-E32FBCC4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8938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AAD99-647F-41F4-A2BE-E1B737DF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214688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B37AD5"/>
                </a:solidFill>
                <a:latin typeface="Aptos"/>
                <a:ea typeface="Aptos"/>
                <a:cs typeface="Aptos"/>
              </a:defRPr>
            </a:pPr>
            <a:r>
              <a:rPr sz="6525" b="1">
                <a:solidFill>
                  <a:srgbClr val="B37AD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B9422-A883-453B-AFE2-CE43654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4714875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asserções aprovadas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CA1C8-AC5F-4709-9CA8-49603774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28938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6B5E3-C4E1-4DB8-AAA1-D37187A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3214688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5FA7F4"/>
                </a:solidFill>
                <a:latin typeface="Aptos"/>
                <a:ea typeface="Aptos"/>
                <a:cs typeface="Aptos"/>
              </a:defRPr>
            </a:pPr>
            <a:r>
              <a:rPr sz="6525" b="1">
                <a:solidFill>
                  <a:srgbClr val="5FA7F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A2A7F-2BF0-40B5-A412-04DB078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714875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serviços isolados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41410-4600-4A5B-938D-C2857AC0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928938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AAF46-FC1E-4926-8391-5590853B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3188" y="3214688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59D39B"/>
                </a:solidFill>
                <a:latin typeface="Aptos"/>
                <a:ea typeface="Aptos"/>
                <a:cs typeface="Aptos"/>
              </a:defRPr>
            </a:pPr>
            <a:r>
              <a:rPr sz="6525" b="1">
                <a:solidFill>
                  <a:srgbClr val="59D39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1BDDF-CC78-4D8F-9ABB-DAEF4C2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3188" y="4714875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falhas no Ansible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973C1-73C7-47EE-90E2-69B524D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429500"/>
            <a:ext cx="1628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13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813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Todos os testes apresentados terminaram com os resultados esperados.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D5F7B-B5C3-4E22-84C6-D93C2D0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286750"/>
            <a:ext cx="1628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As capturas a seguir fazem parte da documentação final do projeto.</a:t>
            </a:r>
          </a:p>
        </p:txBody>
      </p:sp>
    </p:spTree>
    <p:extLst>
      <p:ext uri="{BB962C8B-B14F-4D97-AF65-F5344CB8AC3E}">
        <p14:creationId xmlns:p14="http://schemas.microsoft.com/office/powerpoint/2010/main" val="1350521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B67BB-EEB1-488C-907F-5EF55A88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C"/>
          </a:solidFill>
          <a:ln xmlns:a="http://schemas.openxmlformats.org/drawingml/2006/main" w="0">
            <a:solidFill>
              <a:srgbClr val="070B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51EE1-19A8-4F2C-9CAF-5050F0C6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5775"/>
            <a:ext cx="1671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Serviços testados de forma isolada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8B0E2-0EE8-45A0-B8AB-393661D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14475"/>
            <a:ext cx="2143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A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75357-9273-4D23-948F-73FE98F2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85925"/>
            <a:ext cx="1657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Issue #20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94637-DDC2-4EF2-A609-4C60289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2357438"/>
            <a:ext cx="11144250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3401c92504e5a"/>
          <a:stretch xmlns:a="http://schemas.openxmlformats.org/drawingml/2006/main"/>
        </p:blipFill>
        <p:spPr>
          <a:xfrm xmlns:a="http://schemas.openxmlformats.org/drawingml/2006/main">
            <a:off x="2074980" y="2543175"/>
            <a:ext cx="8280164" cy="6772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1D883-857E-4C88-87C7-ADFB6AA4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688" y="2643188"/>
            <a:ext cx="5000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88" b="1">
                <a:solidFill>
                  <a:srgbClr val="F05AAE"/>
                </a:solidFill>
                <a:latin typeface="Aptos"/>
                <a:ea typeface="Aptos"/>
                <a:cs typeface="Aptos"/>
              </a:defRPr>
            </a:pPr>
            <a:r>
              <a:rPr sz="2588" b="1">
                <a:solidFill>
                  <a:srgbClr val="F05AAE"/>
                </a:solidFill>
                <a:latin typeface="Aptos"/>
                <a:ea typeface="Aptos"/>
                <a:cs typeface="Aptos"/>
              </a:rPr>
              <a:t>O que esta prova confirma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D1E78-C457-46A4-8A6C-64640AED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688" y="3643313"/>
            <a:ext cx="4786313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38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Auth: cadastro, login e token aprovados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935D3-C487-49FD-B565-7378619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688" y="4929188"/>
            <a:ext cx="4786313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38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Produtos: CRUD completo aprovado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76850-3A38-4BC0-9F15-933D6534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688" y="6215063"/>
            <a:ext cx="4786313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38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138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O serviço de produtos passou mesmo com o auth-service parado.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3B801-CE88-4303-B547-BA7EA3E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688" y="8286750"/>
            <a:ext cx="4786313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38" b="1">
                <a:solidFill>
                  <a:srgbClr val="59D39B"/>
                </a:solidFill>
                <a:latin typeface="Aptos"/>
                <a:ea typeface="Aptos"/>
                <a:cs typeface="Aptos"/>
              </a:defRPr>
            </a:pPr>
            <a:r>
              <a:rPr sz="2138" b="1">
                <a:solidFill>
                  <a:srgbClr val="59D39B"/>
                </a:solidFill>
                <a:latin typeface="Aptos"/>
                <a:ea typeface="Aptos"/>
                <a:cs typeface="Aptos"/>
              </a:rPr>
              <a:t>Resultado: independência comprovada</a:t>
            </a:r>
          </a:p>
        </p:txBody>
      </p:sp>
    </p:spTree>
    <p:extLst>
      <p:ext uri="{BB962C8B-B14F-4D97-AF65-F5344CB8AC3E}">
        <p14:creationId xmlns:p14="http://schemas.microsoft.com/office/powerpoint/2010/main" val="18352127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4B1D4-7CD3-4FB6-91BC-AD024041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C"/>
          </a:solidFill>
          <a:ln xmlns:a="http://schemas.openxmlformats.org/drawingml/2006/main" w="0">
            <a:solidFill>
              <a:srgbClr val="070B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9EDE9-F83B-4F25-9F2F-FE66DF7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5775"/>
            <a:ext cx="1671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Comunicação completa pelo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72AD5-219D-4806-8326-F0D2482C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14475"/>
            <a:ext cx="2143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A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B9521-0292-4F91-A6E0-8DE60A0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85925"/>
            <a:ext cx="1657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Issue #21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A8462-E66D-4A57-A9C4-55F0744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28875"/>
            <a:ext cx="11001375" cy="6000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d41495f28466e"/>
          <a:stretch xmlns:a="http://schemas.openxmlformats.org/drawingml/2006/main"/>
        </p:blipFill>
        <p:spPr>
          <a:xfrm xmlns:a="http://schemas.openxmlformats.org/drawingml/2006/main">
            <a:off x="828675" y="3320415"/>
            <a:ext cx="10544175" cy="42176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83EA7-60FD-4D81-AC6B-0C04242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714625"/>
            <a:ext cx="514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88" b="1">
                <a:solidFill>
                  <a:srgbClr val="5FA7F4"/>
                </a:solidFill>
                <a:latin typeface="Aptos"/>
                <a:ea typeface="Aptos"/>
                <a:cs typeface="Aptos"/>
              </a:defRPr>
            </a:pPr>
            <a:r>
              <a:rPr sz="2588" b="1">
                <a:solidFill>
                  <a:srgbClr val="5FA7F4"/>
                </a:solidFill>
                <a:latin typeface="Aptos"/>
                <a:ea typeface="Aptos"/>
                <a:cs typeface="Aptos"/>
              </a:rPr>
              <a:t>Fluxo validado pela porta 8080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EC699-BE7D-48C2-9538-0D1E0466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857625"/>
            <a:ext cx="4857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Cadastro e login</a:t>
            </a:r>
          </a:p>
          <a:p xmlns:a="http://schemas.openxmlformats.org/drawingml/2006/main">
            <a:pPr>
              <a:defRPr sz="2250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Validação do token</a:t>
            </a:r>
          </a:p>
          <a:p xmlns:a="http://schemas.openxmlformats.org/drawingml/2006/main">
            <a:pPr>
              <a:defRPr sz="2250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Proteção das rotas</a:t>
            </a:r>
          </a:p>
          <a:p xmlns:a="http://schemas.openxmlformats.org/drawingml/2006/main">
            <a:pPr>
              <a:defRPr sz="2250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CRUD de produtos</a:t>
            </a:r>
          </a:p>
          <a:p xmlns:a="http://schemas.openxmlformats.org/drawingml/2006/main">
            <a:pPr>
              <a:defRPr sz="2250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Erros 404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1F1F9-F2EB-461A-B8AC-EE6A8CA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643813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38" b="1">
                <a:solidFill>
                  <a:srgbClr val="59D39B"/>
                </a:solidFill>
                <a:latin typeface="Aptos"/>
                <a:ea typeface="Aptos"/>
                <a:cs typeface="Aptos"/>
              </a:defRPr>
            </a:pPr>
            <a:r>
              <a:rPr sz="2138" b="1">
                <a:solidFill>
                  <a:srgbClr val="59D39B"/>
                </a:solidFill>
                <a:latin typeface="Aptos"/>
                <a:ea typeface="Aptos"/>
                <a:cs typeface="Aptos"/>
              </a:rPr>
              <a:t>Resultado: ambiente completo funcionando</a:t>
            </a:r>
          </a:p>
        </p:txBody>
      </p:sp>
    </p:spTree>
    <p:extLst>
      <p:ext uri="{BB962C8B-B14F-4D97-AF65-F5344CB8AC3E}">
        <p14:creationId xmlns:p14="http://schemas.microsoft.com/office/powerpoint/2010/main" val="19328183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7E1BE-B189-4015-BF91-731F309D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C"/>
          </a:solidFill>
          <a:ln xmlns:a="http://schemas.openxmlformats.org/drawingml/2006/main" w="0">
            <a:solidFill>
              <a:srgbClr val="070B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C075B-ADF3-4C64-A7FB-ED00D1B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5775"/>
            <a:ext cx="1671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  Coleção Postman sem falhas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C83A4-73FF-48E7-9E66-3DF38B3C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14475"/>
            <a:ext cx="2143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A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C1A13-024B-40D6-8A5A-47C976A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85925"/>
            <a:ext cx="1657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Issue #19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9802B-1DE9-4B3C-A3D6-1A6F2065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571750"/>
            <a:ext cx="10572750" cy="528637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73e96c14e4696"/>
          <a:stretch xmlns:a="http://schemas.openxmlformats.org/drawingml/2006/main"/>
        </p:blipFill>
        <p:spPr>
          <a:xfrm xmlns:a="http://schemas.openxmlformats.org/drawingml/2006/main">
            <a:off x="1282997" y="2828925"/>
            <a:ext cx="9578381" cy="47720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B86EF-1B00-42AE-AF70-C88B9A11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600325"/>
            <a:ext cx="21431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05AAE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05A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A7586-C533-4FEE-9745-2C811029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828925"/>
            <a:ext cx="3286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requisições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BE11A-00A3-44A4-BF25-A8A87A4E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971925"/>
            <a:ext cx="21431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37AD5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B37AD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83DA8-24C3-4CB3-A20D-F3001E8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4200525"/>
            <a:ext cx="328612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asserções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942EA-B50E-4830-AD5F-0809E20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343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5FA7F4"/>
                </a:solidFill>
                <a:latin typeface="Aptos"/>
                <a:ea typeface="Aptos"/>
                <a:cs typeface="Aptos"/>
              </a:defRPr>
            </a:pPr>
            <a:r>
              <a:rPr sz="4725" b="1">
                <a:solidFill>
                  <a:srgbClr val="5FA7F4"/>
                </a:solidFill>
                <a:latin typeface="Aptos"/>
                <a:ea typeface="Aptos"/>
                <a:cs typeface="Aptos"/>
              </a:rPr>
              <a:t>2,3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09741-57EC-450F-A1B5-2B9A33B6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572125"/>
            <a:ext cx="285750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execução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88C45-EE2C-4DE8-90DF-1E3BDA0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00087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9D3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9D39B"/>
                </a:solidFill>
                <a:latin typeface="Aptos"/>
                <a:ea typeface="Aptos"/>
                <a:cs typeface="Aptos"/>
              </a:rPr>
              <a:t>Nenhuma falha registrada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016E3-EEEA-4539-ADF2-674994D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29625"/>
            <a:ext cx="1614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A coleção cadastra um usuário, obtém o token e reutiliza os dados durante todo o fluxo.</a:t>
            </a:r>
          </a:p>
        </p:txBody>
      </p:sp>
    </p:spTree>
    <p:extLst>
      <p:ext uri="{BB962C8B-B14F-4D97-AF65-F5344CB8AC3E}">
        <p14:creationId xmlns:p14="http://schemas.microsoft.com/office/powerpoint/2010/main" val="14975978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9B98C-8DCE-4473-8197-331C702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C"/>
          </a:solidFill>
          <a:ln xmlns:a="http://schemas.openxmlformats.org/drawingml/2006/main" w="0">
            <a:solidFill>
              <a:srgbClr val="070B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0926A-F7E4-4290-A5CD-9A5F6B3A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5775"/>
            <a:ext cx="1671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7F7FA"/>
                </a:solidFill>
                <a:latin typeface="Aptos"/>
                <a:ea typeface="Aptos"/>
                <a:cs typeface="Aptos"/>
              </a:rPr>
              <a:t>Provisionamento automatizado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08C0C-2685-4F3F-9FAC-B3242D8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14475"/>
            <a:ext cx="2143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A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126B7-A0F2-4302-B60E-C763D06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85925"/>
            <a:ext cx="1657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CB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C7CBDA"/>
                </a:solidFill>
                <a:latin typeface="Aptos"/>
                <a:ea typeface="Aptos"/>
                <a:cs typeface="Aptos"/>
              </a:rPr>
              <a:t>Issue #22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F538C-79A4-45F7-A07A-372B722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214563"/>
            <a:ext cx="10858500" cy="7429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4288">
            <a:solidFill>
              <a:srgbClr val="35436D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51a215ce940be"/>
          <a:stretch xmlns:a="http://schemas.openxmlformats.org/drawingml/2006/main"/>
        </p:blipFill>
        <p:spPr>
          <a:xfrm xmlns:a="http://schemas.openxmlformats.org/drawingml/2006/main">
            <a:off x="3026014" y="2428875"/>
            <a:ext cx="6378098" cy="7000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41594-97FC-4B72-880D-F922CC7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813" y="2500313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88" b="1">
                <a:solidFill>
                  <a:srgbClr val="F05AAE"/>
                </a:solidFill>
                <a:latin typeface="Aptos"/>
                <a:ea typeface="Aptos"/>
                <a:cs typeface="Aptos"/>
              </a:defRPr>
            </a:pPr>
            <a:r>
              <a:rPr sz="2588" b="1">
                <a:solidFill>
                  <a:srgbClr val="F05AAE"/>
                </a:solidFill>
                <a:latin typeface="Aptos"/>
                <a:ea typeface="Aptos"/>
                <a:cs typeface="Aptos"/>
              </a:rPr>
              <a:t>Sequência executada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929C5-11C3-4905-9F2B-8EF23DB4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813" y="3500438"/>
            <a:ext cx="4929188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38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Docker acessível</a:t>
            </a:r>
          </a:p>
          <a:p xmlns:a="http://schemas.openxmlformats.org/drawingml/2006/main">
            <a:pPr>
              <a:defRPr sz="2138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Terraform inicializado</a:t>
            </a:r>
          </a:p>
          <a:p xmlns:a="http://schemas.openxmlformats.org/drawingml/2006/main">
            <a:pPr>
              <a:defRPr sz="2138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Configuração validada</a:t>
            </a:r>
          </a:p>
          <a:p xmlns:a="http://schemas.openxmlformats.org/drawingml/2006/main">
            <a:pPr>
              <a:defRPr sz="2138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Infraestrutura aplicada</a:t>
            </a:r>
          </a:p>
          <a:p xmlns:a="http://schemas.openxmlformats.org/drawingml/2006/main">
            <a:pPr>
              <a:defRPr sz="2138" b="0">
                <a:solidFill>
                  <a:srgbClr val="F7F7FA"/>
                </a:solidFill>
                <a:latin typeface="Aptos"/>
                <a:ea typeface="Aptos"/>
                <a:cs typeface="Aptos"/>
              </a:defRPr>
            </a:pPr>
            <a:r>
              <a:rPr sz="2138" b="0">
                <a:solidFill>
                  <a:srgbClr val="F7F7FA"/>
                </a:solidFill>
                <a:latin typeface="Aptos"/>
                <a:ea typeface="Aptos"/>
                <a:cs typeface="Aptos"/>
              </a:rPr>
              <a:t>Gateway disponível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8CC07-5E47-40B6-916D-6D42BA8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813" y="7643813"/>
            <a:ext cx="4714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9D39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59D39B"/>
                </a:solidFill>
                <a:latin typeface="Aptos"/>
                <a:ea typeface="Aptos"/>
                <a:cs typeface="Aptos"/>
              </a:rPr>
              <a:t>failed=0</a:t>
            </a:r>
          </a:p>
          <a:p xmlns:a="http://schemas.openxmlformats.org/drawingml/2006/main">
            <a:pPr>
              <a:defRPr sz="2475" b="1">
                <a:solidFill>
                  <a:srgbClr val="59D39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59D39B"/>
                </a:solidFill>
                <a:latin typeface="Aptos"/>
                <a:ea typeface="Aptos"/>
                <a:cs typeface="Aptos"/>
              </a:rPr>
              <a:t>unreachable=0</a:t>
            </a:r>
          </a:p>
        </p:txBody>
      </p:sp>
    </p:spTree>
    <p:extLst>
      <p:ext uri="{BB962C8B-B14F-4D97-AF65-F5344CB8AC3E}">
        <p14:creationId xmlns:p14="http://schemas.microsoft.com/office/powerpoint/2010/main" val="8984978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F9BC410-74EF-4E94-B90A-1DD8F781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d84e4a9b95458d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138E91E-DD98-4BBD-9995-CE12072F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6440" y="2569017"/>
            <a:ext cx="10467474" cy="6865288"/>
          </a:xfrm>
          <a:custGeom xmlns:a="http://schemas.openxmlformats.org/drawingml/2006/main">
            <a:rect l="l" t="t" r="r" b="b"/>
            <a:pathLst>
              <a:path w="10467474" h="6865288">
                <a:moveTo>
                  <a:pt x="0" y="0"/>
                </a:moveTo>
                <a:lnTo>
                  <a:pt x="10467474" y="0"/>
                </a:lnTo>
                <a:lnTo>
                  <a:pt x="1046747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e410bb8cd2471f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7150F4D-3B2C-487F-B465-6B969AEA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247" y="943024"/>
            <a:ext cx="7642533" cy="2062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41"/>
              </a:lnSpc>
              <a:buNone/>
            </a:pPr>
            <a:r>
              <a:rPr sz="7403" b="1" spc="-72">
                <a:solidFill>
                  <a:srgbClr val="FFFFFF"/>
                </a:solidFill>
                <a:latin typeface="DM Sans Bold"/>
                <a:ea typeface="DM Sans Bold"/>
                <a:cs typeface="DM Sans Bold"/>
              </a:rPr>
              <a:t>Limitações e </a:t>
            </a:r>
            <a:r>
              <a:rPr sz="7403" b="1" spc="-72">
                <a:solidFill>
                  <a:srgbClr val="E873AB"/>
                </a:solidFill>
                <a:latin typeface="DM Sans Bold"/>
                <a:ea typeface="DM Sans Bold"/>
                <a:cs typeface="DM Sans Bold"/>
              </a:rPr>
              <a:t>pró</a:t>
            </a:r>
            <a:r>
              <a:rPr sz="7403" b="1" spc="-72">
                <a:solidFill>
                  <a:srgbClr val="BD7CBE"/>
                </a:solidFill>
                <a:latin typeface="DM Sans Bold"/>
                <a:ea typeface="DM Sans Bold"/>
                <a:cs typeface="DM Sans Bold"/>
              </a:rPr>
              <a:t>ximos p</a:t>
            </a:r>
            <a:r>
              <a:rPr sz="7403" b="1" spc="-72">
                <a:solidFill>
                  <a:srgbClr val="9186CD"/>
                </a:solidFill>
                <a:latin typeface="DM Sans Bold"/>
                <a:ea typeface="DM Sans Bold"/>
                <a:cs typeface="DM Sans Bold"/>
              </a:rPr>
              <a:t>ass</a:t>
            </a:r>
            <a:r>
              <a:rPr sz="7403" b="1" spc="-72">
                <a:solidFill>
                  <a:srgbClr val="5E9EE9"/>
                </a:solidFill>
                <a:latin typeface="DM Sans Bold"/>
                <a:ea typeface="DM Sans Bold"/>
                <a:cs typeface="DM Sans Bold"/>
              </a:rPr>
              <a:t>os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F704AEA-300C-48C3-BE7F-215F9DC0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242" y="3606342"/>
            <a:ext cx="2542995" cy="430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60"/>
              </a:lnSpc>
              <a:buNone/>
            </a:pPr>
            <a:r>
              <a:rPr sz="2351" b="1" spc="47">
                <a:solidFill>
                  <a:srgbClr val="E873AB">
                    <a:alpha val="84706"/>
                  </a:srgbClr>
                </a:solidFill>
                <a:latin typeface="DM Sans Bold"/>
                <a:ea typeface="DM Sans Bold"/>
                <a:cs typeface="DM Sans Bold"/>
              </a:rPr>
              <a:t>ONDE ESTAMOS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D06E038-FBBB-4506-BB87-120801B0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23" y="4160486"/>
            <a:ext cx="6313769" cy="264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60"/>
              </a:lnSpc>
              <a:buNone/>
            </a:pPr>
            <a:r>
              <a:rPr sz="2311" spc="-22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Pipeline CI/CD pode receber novas etapas de entrega</a:t>
            </a:r>
          </a:p>
          <a:p xmlns:a="http://schemas.openxmlformats.org/drawingml/2006/main">
            <a:pPr algn="l">
              <a:lnSpc>
                <a:spcPts val="4160"/>
              </a:lnSpc>
              <a:buNone/>
            </a:pPr>
            <a:r>
              <a:rPr sz="2311" spc="-22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Falta HTTPS e gestão adequada de segredos</a:t>
            </a:r>
          </a:p>
          <a:p xmlns:a="http://schemas.openxmlformats.org/drawingml/2006/main">
            <a:pPr algn="l">
              <a:lnSpc>
                <a:spcPts val="4160"/>
              </a:lnSpc>
              <a:buNone/>
            </a:pPr>
            <a:r>
              <a:rPr sz="2311" spc="-22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Ausência de escalabilidade automática</a:t>
            </a:r>
          </a:p>
          <a:p xmlns:a="http://schemas.openxmlformats.org/drawingml/2006/main">
            <a:pPr algn="l">
              <a:lnSpc>
                <a:spcPts val="4160"/>
              </a:lnSpc>
              <a:buNone/>
            </a:pPr>
            <a:r>
              <a:rPr sz="2311" spc="-22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com múltiplas réplicas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AF9F239-7FF6-4DEE-88C3-6A8A99B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49" y="7416735"/>
            <a:ext cx="3112243" cy="430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60"/>
              </a:lnSpc>
              <a:buNone/>
            </a:pPr>
            <a:r>
              <a:rPr sz="2351" b="1" spc="47">
                <a:solidFill>
                  <a:srgbClr val="5E9EE9">
                    <a:alpha val="84706"/>
                  </a:srgbClr>
                </a:solidFill>
                <a:latin typeface="DM Sans Bold"/>
                <a:ea typeface="DM Sans Bold"/>
                <a:cs typeface="DM Sans Bold"/>
              </a:rPr>
              <a:t>PARA ONDE VAMOS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A425251-6465-48D6-B22A-FC758A81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47" y="7979633"/>
            <a:ext cx="6332534" cy="14171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08"/>
              </a:lnSpc>
              <a:buNone/>
            </a:pPr>
            <a:r>
              <a:rPr sz="2443" spc="-23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Avançar na separação de serviços,</a:t>
            </a:r>
          </a:p>
          <a:p xmlns:a="http://schemas.openxmlformats.org/drawingml/2006/main">
            <a:pPr algn="l">
              <a:lnSpc>
                <a:spcPts val="3908"/>
              </a:lnSpc>
              <a:buNone/>
            </a:pPr>
            <a:r>
              <a:rPr sz="2443" spc="-23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reforçar segurança, automatizar entrega</a:t>
            </a:r>
          </a:p>
          <a:p xmlns:a="http://schemas.openxmlformats.org/drawingml/2006/main">
            <a:pPr algn="l">
              <a:lnSpc>
                <a:spcPts val="3908"/>
              </a:lnSpc>
              <a:buNone/>
            </a:pPr>
            <a:r>
              <a:rPr sz="2443" spc="-23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e preparar a base para crescer sem limites.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46A5067-CFFA-4A27-BBCA-387C87C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4066699"/>
            <a:ext cx="1750048" cy="2153601"/>
          </a:xfrm>
          <a:custGeom xmlns:a="http://schemas.openxmlformats.org/drawingml/2006/main">
            <a:rect l="l" t="t" r="r" b="b"/>
            <a:pathLst>
              <a:path w="1750048" h="2153601">
                <a:moveTo>
                  <a:pt x="0" y="0"/>
                </a:moveTo>
                <a:lnTo>
                  <a:pt x="1750048" y="0"/>
                </a:lnTo>
                <a:lnTo>
                  <a:pt x="175004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a2626d2dcd46ad"/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CE56B5-1B7C-4E46-A122-D787D71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0669333" y="5042388"/>
            <a:ext cx="984593" cy="352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62"/>
              </a:lnSpc>
              <a:buNone/>
            </a:pPr>
            <a:r>
              <a:rPr sz="1125" spc="-33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Serviços</a:t>
            </a:r>
          </a:p>
          <a:p xmlns:a="http://schemas.openxmlformats.org/drawingml/2006/main">
            <a:pPr algn="ctr">
              <a:lnSpc>
                <a:spcPts val="1462"/>
              </a:lnSpc>
              <a:buNone/>
            </a:pPr>
            <a:r>
              <a:rPr sz="1125" spc="-33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independentes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B69A466-1596-4678-B294-7ED49A0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7196" y="4066699"/>
            <a:ext cx="1760986" cy="2153601"/>
          </a:xfrm>
          <a:custGeom xmlns:a="http://schemas.openxmlformats.org/drawingml/2006/main">
            <a:rect l="l" t="t" r="r" b="b"/>
            <a:pathLst>
              <a:path w="1760986" h="2153601">
                <a:moveTo>
                  <a:pt x="0" y="0"/>
                </a:moveTo>
                <a:lnTo>
                  <a:pt x="1760986" y="0"/>
                </a:lnTo>
                <a:lnTo>
                  <a:pt x="176098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ffdd28500c4ba3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E04146F-BA89-42C5-97DE-9F553499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2196939" y="4520790"/>
            <a:ext cx="1057164" cy="256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81"/>
              </a:lnSpc>
              <a:buNone/>
            </a:pPr>
            <a:r>
              <a:rPr sz="1678" b="1" spc="-50">
                <a:solidFill>
                  <a:srgbClr val="9186CD"/>
                </a:solidFill>
                <a:latin typeface="DM Sans Bold"/>
                <a:ea typeface="DM Sans Bold"/>
                <a:cs typeface="DM Sans Bold"/>
              </a:rPr>
              <a:t>Segurança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34AA77A-32B9-4449-9BF1-1E47118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2319042" y="5051032"/>
            <a:ext cx="710136" cy="591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67"/>
              </a:lnSpc>
              <a:buNone/>
            </a:pPr>
            <a:r>
              <a:rPr sz="1283" spc="-38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HTTPS e</a:t>
            </a:r>
          </a:p>
          <a:p xmlns:a="http://schemas.openxmlformats.org/drawingml/2006/main">
            <a:pPr algn="ctr">
              <a:lnSpc>
                <a:spcPts val="1667"/>
              </a:lnSpc>
              <a:buNone/>
            </a:pPr>
            <a:r>
              <a:rPr sz="1283" spc="-38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gestão de</a:t>
            </a:r>
          </a:p>
          <a:p xmlns:a="http://schemas.openxmlformats.org/drawingml/2006/main">
            <a:pPr algn="ctr">
              <a:lnSpc>
                <a:spcPts val="1667"/>
              </a:lnSpc>
              <a:buNone/>
            </a:pPr>
            <a:r>
              <a:rPr sz="1283" spc="-38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segredos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89B0603-9A4A-4C9E-89BC-848C0AF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066699"/>
            <a:ext cx="1968804" cy="2153601"/>
          </a:xfrm>
          <a:custGeom xmlns:a="http://schemas.openxmlformats.org/drawingml/2006/main"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15a33bf31d4ed9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EC406E9-9D7D-4E28-939F-682B54E4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3752588" y="4529325"/>
            <a:ext cx="1135947" cy="2389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02"/>
              </a:lnSpc>
              <a:buNone/>
            </a:pPr>
            <a:r>
              <a:rPr sz="1617" b="1" spc="-48">
                <a:solidFill>
                  <a:srgbClr val="9186CD"/>
                </a:solidFill>
                <a:latin typeface="DM Sans Bold"/>
                <a:ea typeface="DM Sans Bold"/>
                <a:cs typeface="DM Sans Bold"/>
              </a:rPr>
              <a:t>Automação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114ECD-EFB0-41A4-97F6-D6D35B27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3928573" y="5105403"/>
            <a:ext cx="680236" cy="582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99"/>
              </a:lnSpc>
              <a:buNone/>
            </a:pPr>
            <a:r>
              <a:rPr sz="1230" spc="-36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Pipeline</a:t>
            </a:r>
          </a:p>
          <a:p xmlns:a="http://schemas.openxmlformats.org/drawingml/2006/main">
            <a:pPr algn="ctr">
              <a:lnSpc>
                <a:spcPts val="1599"/>
              </a:lnSpc>
              <a:buNone/>
            </a:pPr>
            <a:r>
              <a:rPr sz="1230" spc="-36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CI/CD</a:t>
            </a:r>
          </a:p>
          <a:p xmlns:a="http://schemas.openxmlformats.org/drawingml/2006/main">
            <a:pPr algn="ctr">
              <a:lnSpc>
                <a:spcPts val="1599"/>
              </a:lnSpc>
              <a:buNone/>
            </a:pPr>
            <a:r>
              <a:rPr sz="1230" spc="-36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completo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4B689BF-FA8F-4139-A1BC-E27FE078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17598" y="4066699"/>
            <a:ext cx="1968804" cy="2372241"/>
          </a:xfrm>
          <a:custGeom xmlns:a="http://schemas.openxmlformats.org/drawingml/2006/main">
            <a:rect l="l" t="t" r="r" b="b"/>
            <a:pathLst>
              <a:path w="1968804" h="2372241">
                <a:moveTo>
                  <a:pt x="0" y="0"/>
                </a:moveTo>
                <a:lnTo>
                  <a:pt x="1968804" y="0"/>
                </a:lnTo>
                <a:lnTo>
                  <a:pt x="196880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58ead788754d82"/>
            <a:stretch>
              <a:fillRect l="0" t="0" r="0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D32437-D7A8-4C7D-9A63-2B8F297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5231543" y="5182975"/>
            <a:ext cx="1472747" cy="591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67"/>
              </a:lnSpc>
              <a:buNone/>
            </a:pPr>
            <a:r>
              <a:rPr sz="1283" spc="-38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Múltiplas</a:t>
            </a:r>
          </a:p>
          <a:p xmlns:a="http://schemas.openxmlformats.org/drawingml/2006/main">
            <a:pPr algn="ctr">
              <a:lnSpc>
                <a:spcPts val="1667"/>
              </a:lnSpc>
              <a:buNone/>
            </a:pPr>
            <a:r>
              <a:rPr sz="1283" spc="-38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réplicas e</a:t>
            </a:r>
          </a:p>
          <a:p xmlns:a="http://schemas.openxmlformats.org/drawingml/2006/main">
            <a:pPr algn="ctr">
              <a:lnSpc>
                <a:spcPts val="1667"/>
              </a:lnSpc>
              <a:buNone/>
            </a:pPr>
            <a:r>
              <a:rPr sz="1283" spc="-38">
                <a:solidFill>
                  <a:srgbClr val="FFFFFF">
                    <a:alpha val="84706"/>
                  </a:srgbClr>
                </a:solidFill>
                <a:latin typeface="DM Sans"/>
                <a:ea typeface="DM Sans"/>
                <a:cs typeface="DM Sans"/>
              </a:rPr>
              <a:t>autoescalonamento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F83803B-0072-4AD8-8C64-ED8C61C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7196" y="4919394"/>
            <a:ext cx="448450" cy="448211"/>
          </a:xfrm>
          <a:custGeom xmlns:a="http://schemas.openxmlformats.org/drawingml/2006/main"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c692ab515c48c4"/>
            <a:stretch>
              <a:fillRect l="0" t="0" r="0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51132CE-3E81-4B41-B55E-C00EE10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919394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a22da185814ba6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A29D243-177F-4DA6-A54C-4487D58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98842" y="4919394"/>
            <a:ext cx="448450" cy="448211"/>
          </a:xfrm>
          <a:custGeom xmlns:a="http://schemas.openxmlformats.org/drawingml/2006/main"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e022d25f944aef"/>
            <a:stretch>
              <a:fillRect l="0" t="0" r="0" b="0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4D70C1-CA9F-4A00-BAB7-D3A2B5B6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0826479" y="4475607"/>
            <a:ext cx="774672" cy="256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81"/>
              </a:lnSpc>
              <a:buNone/>
            </a:pPr>
            <a:r>
              <a:rPr sz="1678" b="1" spc="-50">
                <a:solidFill>
                  <a:srgbClr val="E873AB"/>
                </a:solidFill>
                <a:latin typeface="DM Sans Bold"/>
                <a:ea typeface="DM Sans Bold"/>
                <a:cs typeface="DM Sans Bold"/>
              </a:rPr>
              <a:t>Separar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4EF73D1-7850-4AC9-9221-89BEF72A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015">
            <a:off x="15659656" y="4565973"/>
            <a:ext cx="644151" cy="256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81"/>
              </a:lnSpc>
              <a:buNone/>
            </a:pPr>
            <a:r>
              <a:rPr sz="1678" b="1" spc="-50">
                <a:solidFill>
                  <a:srgbClr val="5E9EE9"/>
                </a:solidFill>
                <a:latin typeface="DM Sans Bold"/>
                <a:ea typeface="DM Sans Bold"/>
                <a:cs typeface="DM Sans Bold"/>
              </a:rPr>
              <a:t>Escala</a:t>
            </a:r>
          </a:p>
        </p:txBody>
      </p:sp>
    </p:spTree>
    <p:extLst>
      <p:ext uri="{BB962C8B-B14F-4D97-AF65-F5344CB8AC3E}">
        <p14:creationId xmlns:p14="http://schemas.microsoft.com/office/powerpoint/2010/main" val="45219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C65C160-EBC5-4736-B900-1ACDD76A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4d746f08b9e40fa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E1C320B-6200-4670-A706-2C038FC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732" y="1823513"/>
            <a:ext cx="5472886" cy="1192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099"/>
              </a:lnSpc>
              <a:buNone/>
            </a:pPr>
            <a:r>
              <a:rPr sz="9099" b="1" spc="-88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Obrigado!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B8FC5EB-E5F1-451D-8173-274C1A9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680" y="3204810"/>
            <a:ext cx="7878049" cy="393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970" b="1" spc="-29">
                <a:solidFill>
                  <a:srgbClr val="E46BA6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Juntos, con</a:t>
            </a:r>
            <a:r>
              <a:rPr sz="2970" b="1" spc="-29">
                <a:solidFill>
                  <a:srgbClr val="B271B9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struímos o futuro da </a:t>
            </a:r>
            <a:r>
              <a:rPr sz="2970" b="1" spc="-29">
                <a:solidFill>
                  <a:srgbClr val="5799E4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TechStore.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3AB56A7-F0B3-4A60-9624-013CEC2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3848060"/>
            <a:ext cx="1542230" cy="448211"/>
          </a:xfrm>
          <a:custGeom xmlns:a="http://schemas.openxmlformats.org/drawingml/2006/main">
            <a:rect l="l" t="t" r="r" b="b"/>
            <a:pathLst>
              <a:path w="1542230" h="448211">
                <a:moveTo>
                  <a:pt x="0" y="0"/>
                </a:moveTo>
                <a:lnTo>
                  <a:pt x="1542230" y="0"/>
                </a:lnTo>
                <a:lnTo>
                  <a:pt x="154223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208b2e6ffb492e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C4E36FA-E3FD-4A78-B584-37C00466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93" y="4517561"/>
            <a:ext cx="1896806" cy="23470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25"/>
              </a:lnSpc>
              <a:buNone/>
            </a:pPr>
            <a:r>
              <a:rPr sz="2232" spc="-20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Nosso time:</a:t>
            </a:r>
          </a:p>
          <a:p xmlns:a="http://schemas.openxmlformats.org/drawingml/2006/main">
            <a:pPr algn="l">
              <a:lnSpc>
                <a:spcPts val="3126"/>
              </a:lnSpc>
              <a:buNone/>
            </a:pPr>
          </a:p>
          <a:p xmlns:a="http://schemas.openxmlformats.org/drawingml/2006/main">
            <a:pPr algn="l">
              <a:lnSpc>
                <a:spcPts val="3126"/>
              </a:lnSpc>
              <a:buNone/>
            </a:pPr>
            <a:r>
              <a:rPr sz="2232" spc="-2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Gustavo</a:t>
            </a:r>
          </a:p>
          <a:p xmlns:a="http://schemas.openxmlformats.org/drawingml/2006/main">
            <a:pPr algn="l">
              <a:lnSpc>
                <a:spcPts val="3126"/>
              </a:lnSpc>
              <a:buNone/>
            </a:pPr>
            <a:r>
              <a:rPr sz="2232" spc="-2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Artur</a:t>
            </a:r>
          </a:p>
          <a:p xmlns:a="http://schemas.openxmlformats.org/drawingml/2006/main">
            <a:pPr algn="l">
              <a:lnSpc>
                <a:spcPts val="3126"/>
              </a:lnSpc>
              <a:buNone/>
            </a:pPr>
            <a:r>
              <a:rPr sz="2232" spc="-2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Ana Paula</a:t>
            </a:r>
          </a:p>
          <a:p xmlns:a="http://schemas.openxmlformats.org/drawingml/2006/main">
            <a:pPr algn="l">
              <a:lnSpc>
                <a:spcPts val="3126"/>
              </a:lnSpc>
              <a:buNone/>
            </a:pPr>
            <a:r>
              <a:rPr sz="2232" spc="-21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Thiago 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6704F1F-0D7D-41F0-A6A3-DEA8070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10" y="7815633"/>
            <a:ext cx="3805115" cy="7236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85"/>
              </a:lnSpc>
              <a:buNone/>
            </a:pPr>
            <a:r>
              <a:rPr sz="5585" b="1" spc="-54">
                <a:solidFill>
                  <a:srgbClr val="E46BA6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P</a:t>
            </a:r>
            <a:r>
              <a:rPr sz="5585" b="1" spc="-54">
                <a:solidFill>
                  <a:srgbClr val="B271B9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erguntas</a:t>
            </a:r>
            <a:r>
              <a:rPr sz="5585" b="1" spc="-54">
                <a:solidFill>
                  <a:srgbClr val="5799E4">
                    <a:alpha val="89804"/>
                  </a:srgbClr>
                </a:solidFill>
                <a:latin typeface="DM Sans Bold"/>
                <a:ea typeface="DM Sans Bold"/>
                <a:cs typeface="DM Sans Bold"/>
              </a:rPr>
              <a:t>?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2218D29-B17F-446E-9B99-E33C7C32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682" y="8613839"/>
            <a:ext cx="2377869" cy="3993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7"/>
              </a:lnSpc>
              <a:buNone/>
            </a:pPr>
            <a:r>
              <a:rPr sz="2311" spc="-22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</a:rPr>
              <a:t>Vamos conversar.</a:t>
            </a:r>
          </a:p>
        </p:txBody>
      </p:sp>
    </p:spTree>
    <p:extLst>
      <p:ext uri="{BB962C8B-B14F-4D97-AF65-F5344CB8AC3E}">
        <p14:creationId xmlns:p14="http://schemas.microsoft.com/office/powerpoint/2010/main" val="11683008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2026-10-04T22:50:47.0030000Z</dcterms:created>
  <dcterms:modified xsi:type="dcterms:W3CDTF">2026-10-04T22:50:47.0040000Z</dcterms:modified>
</coreProperties>
</file>